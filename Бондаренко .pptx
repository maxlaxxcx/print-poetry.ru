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76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605F"/>
    <a:srgbClr val="FCE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2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FABA6-7534-2691-A9B5-7C03A9FC1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D1C763-4B3A-595C-942B-28350C3B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ABF03-0445-4208-86A5-A33FE151C68C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C93D2E-81E8-B18D-13CC-4DA182F4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161716-0B43-C422-DD63-81D0E9EE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EBFA5-C9C8-4769-B8B2-A168698868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05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5067D-A0C4-22F5-B819-F9E2CD7B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415CFE-087D-257D-CA44-DBE7661FB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0EEDE1-7888-3646-A81B-EBBDDC062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ABF03-0445-4208-86A5-A33FE151C68C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ED2F31-F1A8-89C9-9F81-EEDEB8DC8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2EA36-1B1F-1869-CC84-05112C193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EBFA5-C9C8-4769-B8B2-A168698868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44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-j.ru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intio.ru/" TargetMode="External"/><Relationship Id="rId2" Type="http://schemas.openxmlformats.org/officeDocument/2006/relationships/hyperlink" Target="https://be1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hyperlink" Target="https://printdirect.ru/" TargetMode="External"/><Relationship Id="rId4" Type="http://schemas.openxmlformats.org/officeDocument/2006/relationships/hyperlink" Target="https://vsemayki.ru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semayki.ru/" TargetMode="External"/><Relationship Id="rId2" Type="http://schemas.openxmlformats.org/officeDocument/2006/relationships/hyperlink" Target="https://printio.ru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rintdirect.ru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9CDA5C-598C-4DD3-921B-DC3DC8E65BBA}"/>
              </a:ext>
            </a:extLst>
          </p:cNvPr>
          <p:cNvSpPr txBox="1"/>
          <p:nvPr/>
        </p:nvSpPr>
        <p:spPr>
          <a:xfrm>
            <a:off x="666129" y="828847"/>
            <a:ext cx="5342785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400" dirty="0">
                <a:solidFill>
                  <a:srgbClr val="4A4240"/>
                </a:solidFill>
                <a:latin typeface="Raleway" pitchFamily="2" charset="-52"/>
              </a:rPr>
              <a:t>PRINT POETRY</a:t>
            </a:r>
            <a:endParaRPr lang="ru-RU" sz="4400" dirty="0">
              <a:solidFill>
                <a:srgbClr val="4A4240"/>
              </a:solidFill>
              <a:latin typeface="Raleway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45660-74AF-72A8-AFF2-382ADF80F3A9}"/>
              </a:ext>
            </a:extLst>
          </p:cNvPr>
          <p:cNvSpPr txBox="1"/>
          <p:nvPr/>
        </p:nvSpPr>
        <p:spPr>
          <a:xfrm>
            <a:off x="508000" y="1975566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dirty="0">
                <a:solidFill>
                  <a:srgbClr val="64605F"/>
                </a:solidFill>
                <a:latin typeface="Raleway" pitchFamily="2" charset="-52"/>
              </a:rPr>
              <a:t>Авторские</a:t>
            </a:r>
            <a:r>
              <a:rPr lang="ru-RU" dirty="0">
                <a:solidFill>
                  <a:srgbClr val="7A6F6C"/>
                </a:solidFill>
                <a:latin typeface="Raleway" pitchFamily="2" charset="-52"/>
              </a:rPr>
              <a:t> принты на ткани · Искусство в каждой детали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07EE9-E69B-97E6-7777-330055DFAEF3}"/>
              </a:ext>
            </a:extLst>
          </p:cNvPr>
          <p:cNvSpPr txBox="1"/>
          <p:nvPr/>
        </p:nvSpPr>
        <p:spPr>
          <a:xfrm>
            <a:off x="508000" y="2275733"/>
            <a:ext cx="1016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dirty="0">
                <a:solidFill>
                  <a:srgbClr val="64605F"/>
                </a:solidFill>
                <a:latin typeface="Raleway" pitchFamily="2" charset="-52"/>
              </a:rPr>
              <a:t>Презентация</a:t>
            </a:r>
            <a:r>
              <a:rPr lang="ru-RU" sz="1600" dirty="0">
                <a:solidFill>
                  <a:srgbClr val="4A4240"/>
                </a:solidFill>
                <a:latin typeface="Raleway" pitchFamily="2" charset="-52"/>
              </a:rPr>
              <a:t> портфолио веб-сайта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73EDB-1E17-1DFD-5081-F89C35EE80D9}"/>
              </a:ext>
            </a:extLst>
          </p:cNvPr>
          <p:cNvSpPr txBox="1"/>
          <p:nvPr/>
        </p:nvSpPr>
        <p:spPr>
          <a:xfrm>
            <a:off x="2811188" y="2626155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400" dirty="0">
                <a:solidFill>
                  <a:srgbClr val="4A4240"/>
                </a:solidFill>
                <a:latin typeface="Raleway" pitchFamily="2" charset="-52"/>
              </a:rPr>
              <a:t>Подготовил: Студент Бондаренко М.А. Кск-21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7B0A7-F376-DD6D-061F-3DD4C3C6B270}"/>
              </a:ext>
            </a:extLst>
          </p:cNvPr>
          <p:cNvSpPr txBox="1"/>
          <p:nvPr/>
        </p:nvSpPr>
        <p:spPr>
          <a:xfrm>
            <a:off x="2811188" y="2907521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400" dirty="0">
                <a:solidFill>
                  <a:srgbClr val="4A4240"/>
                </a:solidFill>
                <a:latin typeface="Raleway" pitchFamily="2" charset="-52"/>
              </a:rPr>
              <a:t>Руководитель: Кузнецова С.В.</a:t>
            </a:r>
          </a:p>
        </p:txBody>
      </p:sp>
      <p:cxnSp>
        <p:nvCxnSpPr>
          <p:cNvPr id="8" name="Соединитель: уступ 7">
            <a:extLst>
              <a:ext uri="{FF2B5EF4-FFF2-40B4-BE49-F238E27FC236}">
                <a16:creationId xmlns:a16="http://schemas.microsoft.com/office/drawing/2014/main" id="{947D222A-FC4C-000B-B84C-B2E832527F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63980" y="827412"/>
            <a:ext cx="3414864" cy="2296310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>
            <a:reflection blurRad="6350" stA="50000" endA="300" endPos="38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532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EB2CC1-2CB3-D0D8-3245-340C23014378}"/>
              </a:ext>
            </a:extLst>
          </p:cNvPr>
          <p:cNvSpPr txBox="1"/>
          <p:nvPr/>
        </p:nvSpPr>
        <p:spPr>
          <a:xfrm>
            <a:off x="0" y="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dirty="0">
                <a:solidFill>
                  <a:srgbClr val="4A4240"/>
                </a:solidFill>
                <a:latin typeface="Raleway" pitchFamily="2" charset="-52"/>
              </a:rPr>
              <a:t>Задание 1.1 – Тэги для мониторинга (25 шт.)</a:t>
            </a:r>
          </a:p>
        </p:txBody>
      </p:sp>
      <p:sp>
        <p:nvSpPr>
          <p:cNvPr id="5" name="Прямоугольник: скругленные верхние углы 4">
            <a:extLst>
              <a:ext uri="{FF2B5EF4-FFF2-40B4-BE49-F238E27FC236}">
                <a16:creationId xmlns:a16="http://schemas.microsoft.com/office/drawing/2014/main" id="{A0749363-B82F-07EE-F4FB-959E677B7D88}"/>
              </a:ext>
            </a:extLst>
          </p:cNvPr>
          <p:cNvSpPr/>
          <p:nvPr/>
        </p:nvSpPr>
        <p:spPr>
          <a:xfrm>
            <a:off x="256032" y="621030"/>
            <a:ext cx="8222339" cy="2384388"/>
          </a:xfrm>
          <a:prstGeom prst="round2Same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6B5F5B"/>
                </a:solidFill>
                <a:latin typeface="Raleway" pitchFamily="2" charset="-52"/>
              </a:rPr>
              <a:t>#авторскиепринты #принтынафутболках #акварельныйрисунок #печатьнаткани #дизайнпринтов #пастельнаяодежда #</a:t>
            </a:r>
            <a:r>
              <a:rPr lang="en-US" dirty="0" err="1">
                <a:solidFill>
                  <a:srgbClr val="6B5F5B"/>
                </a:solidFill>
                <a:latin typeface="Raleway" pitchFamily="2" charset="-52"/>
              </a:rPr>
              <a:t>printpoetry</a:t>
            </a:r>
            <a:r>
              <a:rPr lang="en-US" dirty="0">
                <a:solidFill>
                  <a:srgbClr val="6B5F5B"/>
                </a:solidFill>
                <a:latin typeface="Raleway" pitchFamily="2" charset="-52"/>
              </a:rPr>
              <a:t> #</a:t>
            </a:r>
            <a:r>
              <a:rPr lang="ru-RU" dirty="0" err="1">
                <a:solidFill>
                  <a:srgbClr val="6B5F5B"/>
                </a:solidFill>
                <a:latin typeface="Raleway" pitchFamily="2" charset="-52"/>
              </a:rPr>
              <a:t>портфолиохудожника</a:t>
            </a:r>
            <a:r>
              <a:rPr lang="ru-RU" dirty="0">
                <a:solidFill>
                  <a:srgbClr val="6B5F5B"/>
                </a:solidFill>
                <a:latin typeface="Raleway" pitchFamily="2" charset="-52"/>
              </a:rPr>
              <a:t> #эскизыпринтов #моднаяграфика #иллюстрациянаодежде #нежныепринты #ручнаяработа #искусствонаткани #шопперсрисунком #футболкасахендмейд #акварельнаяколлекция #дизайнерскаяодежда #цветочныепринты #графическийдизайн #принты2026 #москвадизайн #весенняякапсула #эксклюзивныепринты #мерчсиллюстрацией</a:t>
            </a:r>
          </a:p>
          <a:p>
            <a:pPr algn="ctr"/>
            <a:endParaRPr lang="ru-RU" dirty="0">
              <a:latin typeface="Raleway" pitchFamily="2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27C5B9-AF3E-E06F-1254-44B3069E4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2202" y1="38384" x2="32202" y2="38384"/>
                        <a14:foregroundMark x1="33293" y1="35030" x2="33293" y2="37253"/>
                        <a14:foregroundMark x1="37737" y1="45616" x2="62222" y2="27838"/>
                        <a14:foregroundMark x1="68889" y1="21172" x2="42222" y2="31152"/>
                        <a14:foregroundMark x1="45535" y1="15596" x2="78343" y2="16162"/>
                        <a14:foregroundMark x1="76646" y1="18949" x2="81091" y2="37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624" y="2657094"/>
            <a:ext cx="3730752" cy="284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921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54147B-9BA9-1077-2254-49027D0D8FD4}"/>
              </a:ext>
            </a:extLst>
          </p:cNvPr>
          <p:cNvSpPr txBox="1"/>
          <p:nvPr/>
        </p:nvSpPr>
        <p:spPr>
          <a:xfrm>
            <a:off x="0" y="109835"/>
            <a:ext cx="1079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dirty="0">
                <a:solidFill>
                  <a:srgbClr val="4A4240"/>
                </a:solidFill>
                <a:latin typeface="Raleway" panose="020F0502020204030204" pitchFamily="2" charset="-52"/>
              </a:rPr>
              <a:t>Задание 1.2 – Анализ публикаций в СМИ (5 источников)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D0503-C68B-5B04-5505-80A9976D49DE}"/>
              </a:ext>
            </a:extLst>
          </p:cNvPr>
          <p:cNvSpPr txBox="1"/>
          <p:nvPr/>
        </p:nvSpPr>
        <p:spPr>
          <a:xfrm>
            <a:off x="0" y="4603709"/>
            <a:ext cx="392582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400" b="1" dirty="0">
                <a:latin typeface="Raleway" pitchFamily="2" charset="-52"/>
              </a:rPr>
              <a:t>Рисунок 1. Скриншот </a:t>
            </a:r>
            <a:r>
              <a:rPr lang="en-US" sz="1400" b="1" dirty="0">
                <a:latin typeface="Raleway" pitchFamily="2" charset="-52"/>
              </a:rPr>
              <a:t>Google Alerts</a:t>
            </a:r>
            <a:endParaRPr lang="ru-RU" sz="1400" i="1" dirty="0">
              <a:solidFill>
                <a:srgbClr val="5A504C"/>
              </a:solidFill>
              <a:latin typeface="Raleway" pitchFamily="2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59CCAD-93E2-CA7C-278D-AD7E16C75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857" y="602278"/>
            <a:ext cx="3599382" cy="39697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0B41BC-1A19-4574-B7ED-714F8CBCEF50}"/>
              </a:ext>
            </a:extLst>
          </p:cNvPr>
          <p:cNvSpPr txBox="1"/>
          <p:nvPr/>
        </p:nvSpPr>
        <p:spPr>
          <a:xfrm>
            <a:off x="3742945" y="694945"/>
            <a:ext cx="498652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>
                <a:latin typeface="Raleway" pitchFamily="2" charset="-52"/>
              </a:rPr>
              <a:t>1. Примеры релевантных статей</a:t>
            </a:r>
            <a:endParaRPr lang="ru-RU" sz="1000" dirty="0">
              <a:latin typeface="Raleway" pitchFamily="2" charset="-52"/>
            </a:endParaRPr>
          </a:p>
          <a:p>
            <a:r>
              <a:rPr lang="ru-RU" sz="1000" b="1" dirty="0">
                <a:latin typeface="Raleway" pitchFamily="2" charset="-52"/>
              </a:rPr>
              <a:t>1.1. «Одежда по запросу: какие сервисы </a:t>
            </a:r>
            <a:r>
              <a:rPr lang="ru-RU" sz="1000" b="1" dirty="0" err="1">
                <a:latin typeface="Raleway" pitchFamily="2" charset="-52"/>
              </a:rPr>
              <a:t>print-on-demand</a:t>
            </a:r>
            <a:r>
              <a:rPr lang="ru-RU" sz="1000" b="1" dirty="0">
                <a:latin typeface="Raleway" pitchFamily="2" charset="-52"/>
              </a:rPr>
              <a:t> существуют» (</a:t>
            </a:r>
            <a:r>
              <a:rPr lang="ru-RU" sz="1000" b="1" dirty="0" err="1">
                <a:latin typeface="Raleway" pitchFamily="2" charset="-52"/>
              </a:rPr>
              <a:t>Habr</a:t>
            </a:r>
            <a:r>
              <a:rPr lang="ru-RU" sz="1000" b="1" dirty="0">
                <a:latin typeface="Raleway" pitchFamily="2" charset="-52"/>
              </a:rPr>
              <a:t>)</a:t>
            </a:r>
            <a:endParaRPr lang="ru-RU" sz="1000" dirty="0">
              <a:latin typeface="Raleway" pitchFamily="2" charset="-52"/>
            </a:endParaRPr>
          </a:p>
          <a:p>
            <a:r>
              <a:rPr lang="ru-RU" sz="1000" dirty="0">
                <a:latin typeface="Raleway" pitchFamily="2" charset="-52"/>
              </a:rPr>
              <a:t>Ключевой вывод: Рынок кастомной одежды растёт, сервисы берут на себя логистику.</a:t>
            </a:r>
          </a:p>
          <a:p>
            <a:r>
              <a:rPr lang="ru-RU" sz="1000" dirty="0">
                <a:latin typeface="Raleway" pitchFamily="2" charset="-52"/>
              </a:rPr>
              <a:t>Применение для меня: Раздел «Как заказать», информация о фулфилмент-партнёрах.</a:t>
            </a:r>
          </a:p>
          <a:p>
            <a:r>
              <a:rPr lang="ru-RU" sz="1000" b="1" dirty="0">
                <a:latin typeface="Raleway" pitchFamily="2" charset="-52"/>
              </a:rPr>
              <a:t>1.2. «Печать на футболках в Москве: ТОП-10 лучших — Рейтинг 2025» (DTF)</a:t>
            </a:r>
            <a:endParaRPr lang="ru-RU" sz="1000" dirty="0">
              <a:latin typeface="Raleway" pitchFamily="2" charset="-52"/>
            </a:endParaRPr>
          </a:p>
          <a:p>
            <a:r>
              <a:rPr lang="ru-RU" sz="1000" dirty="0">
                <a:latin typeface="Raleway" pitchFamily="2" charset="-52"/>
              </a:rPr>
              <a:t>Ключевой вывод: Клиенты ищут малые тиражи и авторский дизайн.</a:t>
            </a:r>
          </a:p>
          <a:p>
            <a:r>
              <a:rPr lang="ru-RU" sz="1000" dirty="0">
                <a:latin typeface="Raleway" pitchFamily="2" charset="-52"/>
              </a:rPr>
              <a:t>Применение: Упор на «ограниченный тираж», срочный заказ, локальное производство.</a:t>
            </a:r>
          </a:p>
          <a:p>
            <a:r>
              <a:rPr lang="ru-RU" sz="1000" b="1" dirty="0">
                <a:latin typeface="Raleway" pitchFamily="2" charset="-52"/>
              </a:rPr>
              <a:t>1.3. «Хеппи-энд всё же случился: как я выпустила футболки с собственными принтами» (</a:t>
            </a:r>
            <a:r>
              <a:rPr lang="ru-RU" sz="1000" b="1" dirty="0">
                <a:latin typeface="Raleway" pitchFamily="2" charset="-52"/>
                <a:hlinkClick r:id="rId4"/>
              </a:rPr>
              <a:t>t-j.ru</a:t>
            </a:r>
            <a:r>
              <a:rPr lang="ru-RU" sz="1000" b="1" dirty="0">
                <a:latin typeface="Raleway" pitchFamily="2" charset="-52"/>
              </a:rPr>
              <a:t>)</a:t>
            </a:r>
            <a:endParaRPr lang="ru-RU" sz="1000" dirty="0">
              <a:latin typeface="Raleway" pitchFamily="2" charset="-52"/>
            </a:endParaRPr>
          </a:p>
          <a:p>
            <a:r>
              <a:rPr lang="ru-RU" sz="1000" dirty="0">
                <a:latin typeface="Raleway" pitchFamily="2" charset="-52"/>
              </a:rPr>
              <a:t>Ключевой вывод: Ценится личная история художника, путь от эскиза до изделия.</a:t>
            </a:r>
          </a:p>
          <a:p>
            <a:r>
              <a:rPr lang="ru-RU" sz="1000" dirty="0">
                <a:latin typeface="Raleway" pitchFamily="2" charset="-52"/>
              </a:rPr>
              <a:t>Применение: Страница «Обо мне», дневник создания принта, эмоциональная связь с покупателем.</a:t>
            </a:r>
          </a:p>
          <a:p>
            <a:r>
              <a:rPr lang="ru-RU" sz="1000" b="1" dirty="0">
                <a:latin typeface="Raleway" pitchFamily="2" charset="-52"/>
              </a:rPr>
              <a:t>2. Выводы для стратегии</a:t>
            </a:r>
            <a:endParaRPr lang="ru-RU" sz="1000" dirty="0">
              <a:latin typeface="Raleway" pitchFamily="2" charset="-52"/>
            </a:endParaRPr>
          </a:p>
          <a:p>
            <a:r>
              <a:rPr lang="ru-RU" sz="1000" b="1" dirty="0">
                <a:latin typeface="Raleway" pitchFamily="2" charset="-52"/>
              </a:rPr>
              <a:t>Тренды:</a:t>
            </a:r>
            <a:endParaRPr lang="ru-RU" sz="1000" dirty="0">
              <a:latin typeface="Raleway" pitchFamily="2" charset="-52"/>
            </a:endParaRPr>
          </a:p>
          <a:p>
            <a:r>
              <a:rPr lang="ru-RU" sz="1000" dirty="0">
                <a:latin typeface="Raleway" pitchFamily="2" charset="-52"/>
              </a:rPr>
              <a:t>Авторские принты на одежде становятся массовым трендом через POD-сервисы.</a:t>
            </a:r>
          </a:p>
          <a:p>
            <a:r>
              <a:rPr lang="ru-RU" sz="1000" dirty="0">
                <a:latin typeface="Raleway" pitchFamily="2" charset="-52"/>
              </a:rPr>
              <a:t>Аудитория ждёт честных историй «как это сделано».</a:t>
            </a:r>
          </a:p>
          <a:p>
            <a:r>
              <a:rPr lang="ru-RU" sz="1000" dirty="0">
                <a:latin typeface="Raleway" pitchFamily="2" charset="-52"/>
              </a:rPr>
              <a:t>Растёт ценность малого тиража и локального изготовления.</a:t>
            </a:r>
          </a:p>
          <a:p>
            <a:r>
              <a:rPr lang="ru-RU" sz="1000" b="1" dirty="0">
                <a:latin typeface="Raleway" pitchFamily="2" charset="-52"/>
              </a:rPr>
              <a:t>Рекомендации:</a:t>
            </a:r>
            <a:endParaRPr lang="ru-RU" sz="1000" dirty="0">
              <a:latin typeface="Raleway" pitchFamily="2" charset="-52"/>
            </a:endParaRPr>
          </a:p>
          <a:p>
            <a:r>
              <a:rPr lang="ru-RU" sz="1000" dirty="0">
                <a:latin typeface="Raleway" pitchFamily="2" charset="-52"/>
              </a:rPr>
              <a:t>Добавить на сайт раздел «Производство и уход» — максимальная прозрачность.</a:t>
            </a:r>
          </a:p>
          <a:p>
            <a:r>
              <a:rPr lang="ru-RU" sz="1000" dirty="0">
                <a:latin typeface="Raleway" pitchFamily="2" charset="-52"/>
              </a:rPr>
              <a:t>Усилить страницу «Обо мне» личной историей художника.</a:t>
            </a:r>
          </a:p>
          <a:p>
            <a:r>
              <a:rPr lang="ru-RU" sz="1000" dirty="0">
                <a:latin typeface="Raleway" pitchFamily="2" charset="-52"/>
              </a:rPr>
              <a:t>Выделить локальное производство (Москва) как конкурентное преимущество.</a:t>
            </a:r>
          </a:p>
          <a:p>
            <a:endParaRPr lang="ru-RU" sz="1000" dirty="0">
              <a:latin typeface="Raleway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3359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7F22A6-DFF2-7F4A-91D5-7B6B1A6D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741" y="-133467"/>
            <a:ext cx="3883259" cy="36119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077ACE-4DAA-A191-5DA7-FC9B3D571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50541" cy="33450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864CDA-6D43-CD3D-8CA1-3632A7C85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431" y="1672528"/>
            <a:ext cx="3801364" cy="34840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56855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25B4DA-840C-2A0B-4949-6940C5B83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6" y="295834"/>
            <a:ext cx="4572000" cy="40341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4347F7-C28F-C99E-0BF9-C3C39D488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325" y="295833"/>
            <a:ext cx="3933690" cy="40341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69214048-266A-511D-9CAE-4CE97EA0CAE3}"/>
              </a:ext>
            </a:extLst>
          </p:cNvPr>
          <p:cNvGrpSpPr/>
          <p:nvPr/>
        </p:nvGrpSpPr>
        <p:grpSpPr>
          <a:xfrm>
            <a:off x="3973606" y="121024"/>
            <a:ext cx="2124000" cy="4410635"/>
            <a:chOff x="3973606" y="121024"/>
            <a:chExt cx="2023782" cy="4410635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83044228-5D79-4806-73F3-81FD5E298190}"/>
                </a:ext>
              </a:extLst>
            </p:cNvPr>
            <p:cNvCxnSpPr>
              <a:cxnSpLocks/>
            </p:cNvCxnSpPr>
            <p:nvPr/>
          </p:nvCxnSpPr>
          <p:spPr>
            <a:xfrm>
              <a:off x="3973606" y="121024"/>
              <a:ext cx="773206" cy="0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23D00155-6CBF-D52B-A354-E01F57DB7F36}"/>
                </a:ext>
              </a:extLst>
            </p:cNvPr>
            <p:cNvCxnSpPr>
              <a:cxnSpLocks/>
            </p:cNvCxnSpPr>
            <p:nvPr/>
          </p:nvCxnSpPr>
          <p:spPr>
            <a:xfrm>
              <a:off x="4746812" y="121024"/>
              <a:ext cx="0" cy="4410635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5D193337-812A-157B-59A9-9F74D142B3A6}"/>
                </a:ext>
              </a:extLst>
            </p:cNvPr>
            <p:cNvCxnSpPr>
              <a:cxnSpLocks/>
            </p:cNvCxnSpPr>
            <p:nvPr/>
          </p:nvCxnSpPr>
          <p:spPr>
            <a:xfrm>
              <a:off x="4746812" y="4531659"/>
              <a:ext cx="1250576" cy="0"/>
            </a:xfrm>
            <a:prstGeom prst="line">
              <a:avLst/>
            </a:prstGeom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0547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019A2-869E-9CB3-AD09-678E8F9C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310032" cy="580043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Раздел 1.3 Анализ групп в социальных сетях</a:t>
            </a:r>
            <a:br>
              <a:rPr lang="ru-RU" dirty="0"/>
            </a:br>
            <a:endParaRPr lang="ru-RU" dirty="0"/>
          </a:p>
        </p:txBody>
      </p:sp>
      <p:sp>
        <p:nvSpPr>
          <p:cNvPr id="5" name="Google Shape;115;p16">
            <a:extLst>
              <a:ext uri="{FF2B5EF4-FFF2-40B4-BE49-F238E27FC236}">
                <a16:creationId xmlns:a16="http://schemas.microsoft.com/office/drawing/2014/main" id="{BC56F4D7-BB7C-071C-EEA8-E0CE5E02C8EB}"/>
              </a:ext>
            </a:extLst>
          </p:cNvPr>
          <p:cNvSpPr/>
          <p:nvPr/>
        </p:nvSpPr>
        <p:spPr>
          <a:xfrm>
            <a:off x="127747" y="426526"/>
            <a:ext cx="4733365" cy="1122128"/>
          </a:xfrm>
          <a:prstGeom prst="roundRect">
            <a:avLst>
              <a:gd name="adj" fmla="val 6629"/>
            </a:avLst>
          </a:prstGeom>
          <a:solidFill>
            <a:srgbClr val="1E293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50000"/>
              </a:lnSpc>
            </a:pPr>
            <a:endParaRPr lang="en-US" dirty="0"/>
          </a:p>
        </p:txBody>
      </p:sp>
      <p:sp>
        <p:nvSpPr>
          <p:cNvPr id="6" name="Google Shape;118;p16">
            <a:extLst>
              <a:ext uri="{FF2B5EF4-FFF2-40B4-BE49-F238E27FC236}">
                <a16:creationId xmlns:a16="http://schemas.microsoft.com/office/drawing/2014/main" id="{0A7B5B0B-997F-F216-6BEF-1722461D2B39}"/>
              </a:ext>
            </a:extLst>
          </p:cNvPr>
          <p:cNvSpPr/>
          <p:nvPr/>
        </p:nvSpPr>
        <p:spPr>
          <a:xfrm>
            <a:off x="73959" y="2158253"/>
            <a:ext cx="5238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4;p16" descr="image.png">
            <a:extLst>
              <a:ext uri="{FF2B5EF4-FFF2-40B4-BE49-F238E27FC236}">
                <a16:creationId xmlns:a16="http://schemas.microsoft.com/office/drawing/2014/main" id="{208F5A77-CE47-99E6-3597-33513F42A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402" y="491378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5;p16">
            <a:extLst>
              <a:ext uri="{FF2B5EF4-FFF2-40B4-BE49-F238E27FC236}">
                <a16:creationId xmlns:a16="http://schemas.microsoft.com/office/drawing/2014/main" id="{83CC8220-9471-DFD4-55F2-EC80D4B95E7F}"/>
              </a:ext>
            </a:extLst>
          </p:cNvPr>
          <p:cNvSpPr txBox="1"/>
          <p:nvPr/>
        </p:nvSpPr>
        <p:spPr>
          <a:xfrm>
            <a:off x="195402" y="696165"/>
            <a:ext cx="2371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05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Аудитория</a:t>
            </a:r>
            <a:r>
              <a:rPr lang="ru-RU" sz="1050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n-US" sz="1050" b="1" dirty="0">
                <a:solidFill>
                  <a:schemeClr val="bg1">
                    <a:lumMod val="95000"/>
                  </a:schemeClr>
                </a:solidFill>
              </a:rPr>
              <a:t>508,8K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подписчиков</a:t>
            </a:r>
            <a:endParaRPr dirty="0"/>
          </a:p>
        </p:txBody>
      </p:sp>
      <p:sp>
        <p:nvSpPr>
          <p:cNvPr id="9" name="Google Shape;126;p16">
            <a:extLst>
              <a:ext uri="{FF2B5EF4-FFF2-40B4-BE49-F238E27FC236}">
                <a16:creationId xmlns:a16="http://schemas.microsoft.com/office/drawing/2014/main" id="{05481720-6608-325D-643F-BDDAFAF2F3ED}"/>
              </a:ext>
            </a:extLst>
          </p:cNvPr>
          <p:cNvSpPr txBox="1"/>
          <p:nvPr/>
        </p:nvSpPr>
        <p:spPr>
          <a:xfrm>
            <a:off x="2670012" y="705690"/>
            <a:ext cx="2371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Контент</a:t>
            </a:r>
            <a:r>
              <a:rPr lang="ru-RU" sz="105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Дропы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аниме-коллабы</a:t>
            </a:r>
            <a:endParaRPr dirty="0"/>
          </a:p>
        </p:txBody>
      </p:sp>
      <p:sp>
        <p:nvSpPr>
          <p:cNvPr id="10" name="Google Shape;127;p16">
            <a:extLst>
              <a:ext uri="{FF2B5EF4-FFF2-40B4-BE49-F238E27FC236}">
                <a16:creationId xmlns:a16="http://schemas.microsoft.com/office/drawing/2014/main" id="{610A98CE-78F0-4795-1F5D-BC9FD7B89B8A}"/>
              </a:ext>
            </a:extLst>
          </p:cNvPr>
          <p:cNvSpPr txBox="1"/>
          <p:nvPr/>
        </p:nvSpPr>
        <p:spPr>
          <a:xfrm>
            <a:off x="223977" y="967069"/>
            <a:ext cx="4838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Фишки</a:t>
            </a:r>
            <a:r>
              <a:rPr lang="ru-RU" sz="105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Геймификация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продаж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лимитированные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коллекции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видео-презентации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" name="Google Shape;116;p16">
            <a:extLst>
              <a:ext uri="{FF2B5EF4-FFF2-40B4-BE49-F238E27FC236}">
                <a16:creationId xmlns:a16="http://schemas.microsoft.com/office/drawing/2014/main" id="{340E9ABF-D185-3FE7-A60C-D6211F534E92}"/>
              </a:ext>
            </a:extLst>
          </p:cNvPr>
          <p:cNvSpPr/>
          <p:nvPr/>
        </p:nvSpPr>
        <p:spPr>
          <a:xfrm>
            <a:off x="119203" y="1564764"/>
            <a:ext cx="4741910" cy="1490662"/>
          </a:xfrm>
          <a:prstGeom prst="roundRect">
            <a:avLst>
              <a:gd name="adj" fmla="val 5940"/>
            </a:avLst>
          </a:prstGeom>
          <a:solidFill>
            <a:srgbClr val="1E293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0;p16">
            <a:extLst>
              <a:ext uri="{FF2B5EF4-FFF2-40B4-BE49-F238E27FC236}">
                <a16:creationId xmlns:a16="http://schemas.microsoft.com/office/drawing/2014/main" id="{1DF552F7-A787-7D31-3A51-9E726E6CFF6C}"/>
              </a:ext>
            </a:extLst>
          </p:cNvPr>
          <p:cNvSpPr/>
          <p:nvPr/>
        </p:nvSpPr>
        <p:spPr>
          <a:xfrm>
            <a:off x="73959" y="4098413"/>
            <a:ext cx="5238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1;p16">
            <a:extLst>
              <a:ext uri="{FF2B5EF4-FFF2-40B4-BE49-F238E27FC236}">
                <a16:creationId xmlns:a16="http://schemas.microsoft.com/office/drawing/2014/main" id="{668CED81-DA38-28D8-C57D-9B870B034C14}"/>
              </a:ext>
            </a:extLst>
          </p:cNvPr>
          <p:cNvSpPr txBox="1"/>
          <p:nvPr/>
        </p:nvSpPr>
        <p:spPr>
          <a:xfrm>
            <a:off x="443052" y="1539784"/>
            <a:ext cx="47505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2. Mother Russia (VK)</a:t>
            </a:r>
            <a:endParaRPr dirty="0"/>
          </a:p>
        </p:txBody>
      </p:sp>
      <p:pic>
        <p:nvPicPr>
          <p:cNvPr id="14" name="Google Shape;128;p16" descr="image.png">
            <a:extLst>
              <a:ext uri="{FF2B5EF4-FFF2-40B4-BE49-F238E27FC236}">
                <a16:creationId xmlns:a16="http://schemas.microsoft.com/office/drawing/2014/main" id="{1631DCC3-EF46-ED57-9E4F-C6D1A71D07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064" y="1653429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29;p16">
            <a:extLst>
              <a:ext uri="{FF2B5EF4-FFF2-40B4-BE49-F238E27FC236}">
                <a16:creationId xmlns:a16="http://schemas.microsoft.com/office/drawing/2014/main" id="{6F3B9F09-F1F4-1D96-5804-1D19C7005F55}"/>
              </a:ext>
            </a:extLst>
          </p:cNvPr>
          <p:cNvSpPr txBox="1"/>
          <p:nvPr/>
        </p:nvSpPr>
        <p:spPr>
          <a:xfrm>
            <a:off x="195400" y="1738506"/>
            <a:ext cx="23717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05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Аудитория</a:t>
            </a:r>
            <a:r>
              <a:rPr lang="ru-RU" sz="105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n-US" sz="1200" b="1" dirty="0">
                <a:solidFill>
                  <a:schemeClr val="bg2"/>
                </a:solidFill>
              </a:rPr>
              <a:t>76,4K</a:t>
            </a:r>
            <a:r>
              <a:rPr lang="en-US" dirty="0"/>
              <a:t> 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подписчиков</a:t>
            </a:r>
            <a:endParaRPr dirty="0"/>
          </a:p>
        </p:txBody>
      </p:sp>
      <p:sp>
        <p:nvSpPr>
          <p:cNvPr id="16" name="Google Shape;130;p16">
            <a:extLst>
              <a:ext uri="{FF2B5EF4-FFF2-40B4-BE49-F238E27FC236}">
                <a16:creationId xmlns:a16="http://schemas.microsoft.com/office/drawing/2014/main" id="{9E28A60A-1181-B0C4-B461-462D9FA7DAC3}"/>
              </a:ext>
            </a:extLst>
          </p:cNvPr>
          <p:cNvSpPr txBox="1"/>
          <p:nvPr/>
        </p:nvSpPr>
        <p:spPr>
          <a:xfrm>
            <a:off x="2670012" y="1879713"/>
            <a:ext cx="2371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Контент</a:t>
            </a:r>
            <a:r>
              <a:rPr lang="ru-RU" sz="105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Локальные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принты</a:t>
            </a:r>
            <a:endParaRPr dirty="0"/>
          </a:p>
        </p:txBody>
      </p:sp>
      <p:sp>
        <p:nvSpPr>
          <p:cNvPr id="17" name="Google Shape;131;p16">
            <a:extLst>
              <a:ext uri="{FF2B5EF4-FFF2-40B4-BE49-F238E27FC236}">
                <a16:creationId xmlns:a16="http://schemas.microsoft.com/office/drawing/2014/main" id="{2647B67A-E7BD-4183-FC23-834C9EFABC91}"/>
              </a:ext>
            </a:extLst>
          </p:cNvPr>
          <p:cNvSpPr txBox="1"/>
          <p:nvPr/>
        </p:nvSpPr>
        <p:spPr>
          <a:xfrm>
            <a:off x="195401" y="2196352"/>
            <a:ext cx="4838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Фишки</a:t>
            </a:r>
            <a:r>
              <a:rPr lang="ru-RU" sz="105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Сильный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сторителлинг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вокруг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русского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стиля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",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коллаборации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с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художниками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8" name="Google Shape;117;p16">
            <a:extLst>
              <a:ext uri="{FF2B5EF4-FFF2-40B4-BE49-F238E27FC236}">
                <a16:creationId xmlns:a16="http://schemas.microsoft.com/office/drawing/2014/main" id="{6493BDD5-457F-3ED3-68BA-72F1A97F24E6}"/>
              </a:ext>
            </a:extLst>
          </p:cNvPr>
          <p:cNvSpPr/>
          <p:nvPr/>
        </p:nvSpPr>
        <p:spPr>
          <a:xfrm>
            <a:off x="119203" y="3103114"/>
            <a:ext cx="4741909" cy="1481137"/>
          </a:xfrm>
          <a:prstGeom prst="roundRect">
            <a:avLst>
              <a:gd name="adj" fmla="val 5940"/>
            </a:avLst>
          </a:prstGeom>
          <a:solidFill>
            <a:srgbClr val="1E293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22;p16">
            <a:extLst>
              <a:ext uri="{FF2B5EF4-FFF2-40B4-BE49-F238E27FC236}">
                <a16:creationId xmlns:a16="http://schemas.microsoft.com/office/drawing/2014/main" id="{101BA9A6-5419-DB1A-0C69-20CFBA61EA6A}"/>
              </a:ext>
            </a:extLst>
          </p:cNvPr>
          <p:cNvSpPr/>
          <p:nvPr/>
        </p:nvSpPr>
        <p:spPr>
          <a:xfrm>
            <a:off x="71577" y="6022463"/>
            <a:ext cx="5238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23;p16">
            <a:extLst>
              <a:ext uri="{FF2B5EF4-FFF2-40B4-BE49-F238E27FC236}">
                <a16:creationId xmlns:a16="http://schemas.microsoft.com/office/drawing/2014/main" id="{5892D709-522B-43FD-58A0-7D45942E828F}"/>
              </a:ext>
            </a:extLst>
          </p:cNvPr>
          <p:cNvSpPr txBox="1"/>
          <p:nvPr/>
        </p:nvSpPr>
        <p:spPr>
          <a:xfrm>
            <a:off x="437376" y="3103114"/>
            <a:ext cx="48006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lang="en-US" sz="1650" b="1" i="0" u="none" strike="noStrike" cap="none" dirty="0" err="1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Все</a:t>
            </a:r>
            <a:r>
              <a:rPr lang="ru-RU" sz="1650" b="1" i="0" u="none" strike="noStrike" cap="none" dirty="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50" b="1" i="0" u="none" strike="noStrike" cap="none" dirty="0" err="1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Майки</a:t>
            </a:r>
            <a:r>
              <a:rPr lang="en-US" sz="1650" b="1" i="0" u="none" strike="noStrike" cap="none" dirty="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 (VK)</a:t>
            </a:r>
            <a:endParaRPr dirty="0"/>
          </a:p>
        </p:txBody>
      </p:sp>
      <p:pic>
        <p:nvPicPr>
          <p:cNvPr id="21" name="Google Shape;132;p16" descr="image.png">
            <a:extLst>
              <a:ext uri="{FF2B5EF4-FFF2-40B4-BE49-F238E27FC236}">
                <a16:creationId xmlns:a16="http://schemas.microsoft.com/office/drawing/2014/main" id="{4C40B844-687D-8F40-573D-EB506FB3410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876" y="321100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3;p16">
            <a:extLst>
              <a:ext uri="{FF2B5EF4-FFF2-40B4-BE49-F238E27FC236}">
                <a16:creationId xmlns:a16="http://schemas.microsoft.com/office/drawing/2014/main" id="{B38BCB6F-2383-C707-D530-99E8F23ED23D}"/>
              </a:ext>
            </a:extLst>
          </p:cNvPr>
          <p:cNvSpPr txBox="1"/>
          <p:nvPr/>
        </p:nvSpPr>
        <p:spPr>
          <a:xfrm>
            <a:off x="195400" y="3463179"/>
            <a:ext cx="23717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05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Аудитория</a:t>
            </a:r>
            <a:r>
              <a:rPr lang="ru-RU" sz="105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n-US" sz="1200" b="1" dirty="0">
                <a:solidFill>
                  <a:schemeClr val="bg2">
                    <a:lumMod val="90000"/>
                  </a:schemeClr>
                </a:solidFill>
              </a:rPr>
              <a:t>274,8K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подписчиков</a:t>
            </a:r>
            <a:endParaRPr dirty="0"/>
          </a:p>
        </p:txBody>
      </p:sp>
      <p:sp>
        <p:nvSpPr>
          <p:cNvPr id="23" name="Google Shape;134;p16">
            <a:extLst>
              <a:ext uri="{FF2B5EF4-FFF2-40B4-BE49-F238E27FC236}">
                <a16:creationId xmlns:a16="http://schemas.microsoft.com/office/drawing/2014/main" id="{7605AF21-DFCA-C6A1-24BA-03987EF36368}"/>
              </a:ext>
            </a:extLst>
          </p:cNvPr>
          <p:cNvSpPr txBox="1"/>
          <p:nvPr/>
        </p:nvSpPr>
        <p:spPr>
          <a:xfrm>
            <a:off x="2643324" y="3444127"/>
            <a:ext cx="2371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Контент</a:t>
            </a:r>
            <a:r>
              <a:rPr lang="ru-RU" sz="105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Масс-маркет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принты</a:t>
            </a:r>
            <a:endParaRPr dirty="0"/>
          </a:p>
        </p:txBody>
      </p:sp>
      <p:sp>
        <p:nvSpPr>
          <p:cNvPr id="24" name="Google Shape;135;p16">
            <a:extLst>
              <a:ext uri="{FF2B5EF4-FFF2-40B4-BE49-F238E27FC236}">
                <a16:creationId xmlns:a16="http://schemas.microsoft.com/office/drawing/2014/main" id="{1BE55F0F-6B80-70F7-93A3-6A00F59CB005}"/>
              </a:ext>
            </a:extLst>
          </p:cNvPr>
          <p:cNvSpPr txBox="1"/>
          <p:nvPr/>
        </p:nvSpPr>
        <p:spPr>
          <a:xfrm>
            <a:off x="203037" y="3871936"/>
            <a:ext cx="4838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Фишки</a:t>
            </a:r>
            <a:r>
              <a:rPr lang="ru-RU" sz="105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Конструктор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дизайна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ситуативный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маркетинг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партнерская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сеть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художников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23E20E-78D3-3764-820F-5BE9719D4657}"/>
              </a:ext>
            </a:extLst>
          </p:cNvPr>
          <p:cNvSpPr txBox="1"/>
          <p:nvPr/>
        </p:nvSpPr>
        <p:spPr>
          <a:xfrm>
            <a:off x="298287" y="305035"/>
            <a:ext cx="4612340" cy="464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1. NIKIFILINI (VK)</a:t>
            </a:r>
            <a:endParaRPr lang="en-US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A1AE2F1-D777-0F8B-2699-1DC0E789F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356" y="421700"/>
            <a:ext cx="2758467" cy="11221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398584D-DC23-B570-8CBB-EEAF50CC9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627" y="1564764"/>
            <a:ext cx="2807139" cy="14906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27469E2-1560-7A5D-ECEF-2FCF21370B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5945" y="3122038"/>
            <a:ext cx="2801821" cy="14735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91571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906331-4E29-0165-0590-3D375F761E7E}"/>
              </a:ext>
            </a:extLst>
          </p:cNvPr>
          <p:cNvSpPr txBox="1"/>
          <p:nvPr/>
        </p:nvSpPr>
        <p:spPr>
          <a:xfrm>
            <a:off x="0" y="3552"/>
            <a:ext cx="1079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dirty="0">
                <a:solidFill>
                  <a:srgbClr val="64605F"/>
                </a:solidFill>
                <a:latin typeface="Raleway" pitchFamily="2" charset="-52"/>
              </a:rPr>
              <a:t>Задание 1.4 – Блогеры и лидеры мнений (5 персон)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05F57-FC7B-4882-40BE-C5BD5E622360}"/>
              </a:ext>
            </a:extLst>
          </p:cNvPr>
          <p:cNvSpPr txBox="1"/>
          <p:nvPr/>
        </p:nvSpPr>
        <p:spPr>
          <a:xfrm>
            <a:off x="0" y="422887"/>
            <a:ext cx="1079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400" dirty="0">
                <a:solidFill>
                  <a:srgbClr val="6460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ТОП-5 блогеров/экспертов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A08FF00-09DF-7CDA-7F66-9F04AC340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407055"/>
              </p:ext>
            </p:extLst>
          </p:nvPr>
        </p:nvGraphicFramePr>
        <p:xfrm>
          <a:off x="0" y="726256"/>
          <a:ext cx="6766559" cy="4412836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145775">
                  <a:extLst>
                    <a:ext uri="{9D8B030D-6E8A-4147-A177-3AD203B41FA5}">
                      <a16:colId xmlns:a16="http://schemas.microsoft.com/office/drawing/2014/main" val="2780558067"/>
                    </a:ext>
                  </a:extLst>
                </a:gridCol>
                <a:gridCol w="1405196">
                  <a:extLst>
                    <a:ext uri="{9D8B030D-6E8A-4147-A177-3AD203B41FA5}">
                      <a16:colId xmlns:a16="http://schemas.microsoft.com/office/drawing/2014/main" val="493093352"/>
                    </a:ext>
                  </a:extLst>
                </a:gridCol>
                <a:gridCol w="1405196">
                  <a:extLst>
                    <a:ext uri="{9D8B030D-6E8A-4147-A177-3AD203B41FA5}">
                      <a16:colId xmlns:a16="http://schemas.microsoft.com/office/drawing/2014/main" val="3425977255"/>
                    </a:ext>
                  </a:extLst>
                </a:gridCol>
                <a:gridCol w="1405196">
                  <a:extLst>
                    <a:ext uri="{9D8B030D-6E8A-4147-A177-3AD203B41FA5}">
                      <a16:colId xmlns:a16="http://schemas.microsoft.com/office/drawing/2014/main" val="2694145010"/>
                    </a:ext>
                  </a:extLst>
                </a:gridCol>
                <a:gridCol w="1405196">
                  <a:extLst>
                    <a:ext uri="{9D8B030D-6E8A-4147-A177-3AD203B41FA5}">
                      <a16:colId xmlns:a16="http://schemas.microsoft.com/office/drawing/2014/main" val="5327116"/>
                    </a:ext>
                  </a:extLst>
                </a:gridCol>
              </a:tblGrid>
              <a:tr h="25164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Автор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58641" marR="97735" marT="61084" marB="6108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Платформа</a:t>
                      </a:r>
                      <a:endParaRPr lang="ru-RU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Тематика высказываний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Цитата / Выводы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Применение для меня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extLst>
                  <a:ext uri="{0D108BD9-81ED-4DB2-BD59-A6C34878D82A}">
                    <a16:rowId xmlns:a16="http://schemas.microsoft.com/office/drawing/2014/main" val="1880847702"/>
                  </a:ext>
                </a:extLst>
              </a:tr>
              <a:tr h="4338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Лена Темникова</a:t>
                      </a:r>
                      <a:endParaRPr lang="ru-RU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58641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Instagram*, Telegram</a:t>
                      </a:r>
                      <a:endParaRPr lang="en-US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Мода, пастельная эстетика, женственность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«Одежда должна быть нежной, как акварель»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Ориентир по стилю, визуальные референсы для съёмки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58641" marT="61084" marB="61084" anchor="ctr"/>
                </a:tc>
                <a:extLst>
                  <a:ext uri="{0D108BD9-81ED-4DB2-BD59-A6C34878D82A}">
                    <a16:rowId xmlns:a16="http://schemas.microsoft.com/office/drawing/2014/main" val="3470297183"/>
                  </a:ext>
                </a:extLst>
              </a:tr>
              <a:tr h="4338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Катя Клэп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58641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YouTube, Instagram*</a:t>
                      </a:r>
                      <a:endParaRPr lang="en-US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Этичная мода, минимализм, осознанное потребление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«Лучше одна вещь с историей, чем десять из масс-маркета»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Раздел «Устойчивая мода», акцент на осознанность</a:t>
                      </a:r>
                      <a:endParaRPr lang="ru-RU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58641" marT="61084" marB="61084" anchor="ctr"/>
                </a:tc>
                <a:extLst>
                  <a:ext uri="{0D108BD9-81ED-4DB2-BD59-A6C34878D82A}">
                    <a16:rowId xmlns:a16="http://schemas.microsoft.com/office/drawing/2014/main" val="3525794568"/>
                  </a:ext>
                </a:extLst>
              </a:tr>
              <a:tr h="4338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Ида Галич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58641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Instagram*, VK</a:t>
                      </a:r>
                      <a:endParaRPr lang="en-US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Повседневный стиль, поддержка локальных брендов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«Ношу то, что нарисовано с душой»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Коллаборация, UGC-формат «звезда носит наш принт»</a:t>
                      </a:r>
                      <a:endParaRPr lang="ru-RU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58641" marT="61084" marB="61084" anchor="ctr"/>
                </a:tc>
                <a:extLst>
                  <a:ext uri="{0D108BD9-81ED-4DB2-BD59-A6C34878D82A}">
                    <a16:rowId xmlns:a16="http://schemas.microsoft.com/office/drawing/2014/main" val="2578068949"/>
                  </a:ext>
                </a:extLst>
              </a:tr>
              <a:tr h="4338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Саша Митрошина</a:t>
                      </a:r>
                      <a:endParaRPr lang="ru-RU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58641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Instagram*, Telegram</a:t>
                      </a:r>
                      <a:endParaRPr lang="en-US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Эстетика уюта, ручная работа, #местокрасоты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«Красота — в деталях ручного труда»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Продвижение через Reels, акцент на ручную работу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58641" marT="61084" marB="61084" anchor="ctr"/>
                </a:tc>
                <a:extLst>
                  <a:ext uri="{0D108BD9-81ED-4DB2-BD59-A6C34878D82A}">
                    <a16:rowId xmlns:a16="http://schemas.microsoft.com/office/drawing/2014/main" val="3400041513"/>
                  </a:ext>
                </a:extLst>
              </a:tr>
              <a:tr h="4338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Антон Лапенко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58641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YouTube, Instagram*</a:t>
                      </a:r>
                      <a:endParaRPr 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Ретро-стиль, уют, ностальгия</a:t>
                      </a:r>
                      <a:endParaRPr lang="ru-RU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«Уютное и настоящее — вне времени»</a:t>
                      </a:r>
                      <a:endParaRPr lang="ru-RU" sz="9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97735" marT="61084" marB="61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9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Привлечение мужской аудитории, ретро-капсул</a:t>
                      </a:r>
                      <a:endParaRPr lang="ru-RU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97735" marR="58641" marT="61084" marB="61084" anchor="ctr"/>
                </a:tc>
                <a:extLst>
                  <a:ext uri="{0D108BD9-81ED-4DB2-BD59-A6C34878D82A}">
                    <a16:rowId xmlns:a16="http://schemas.microsoft.com/office/drawing/2014/main" val="842584689"/>
                  </a:ext>
                </a:extLst>
              </a:tr>
            </a:tbl>
          </a:graphicData>
        </a:graphic>
      </p:graphicFrame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DBD7726-F888-C696-0367-984597415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773" y="726256"/>
            <a:ext cx="1962150" cy="17701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DE040A-E45A-760C-B915-F54353DBF1C5}"/>
              </a:ext>
            </a:extLst>
          </p:cNvPr>
          <p:cNvSpPr txBox="1"/>
          <p:nvPr/>
        </p:nvSpPr>
        <p:spPr>
          <a:xfrm>
            <a:off x="6882384" y="2475911"/>
            <a:ext cx="2090928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ru-RU" sz="18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Лена Темникова</a:t>
            </a:r>
            <a:endParaRPr lang="ru-RU" sz="1800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quote-cjk-patch"/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5CEC237C-E431-2BF8-DF6A-300AABA14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773" y="2811900"/>
            <a:ext cx="1962150" cy="19621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0665B0-A71C-B495-93FF-3A8AC2BC6B1B}"/>
              </a:ext>
            </a:extLst>
          </p:cNvPr>
          <p:cNvSpPr txBox="1"/>
          <p:nvPr/>
        </p:nvSpPr>
        <p:spPr>
          <a:xfrm>
            <a:off x="6946773" y="4807511"/>
            <a:ext cx="2188464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ru-RU" sz="18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Саша Митрошина</a:t>
            </a:r>
            <a:endParaRPr lang="ru-RU" sz="1800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56318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171B36-6AD5-D85C-ED42-BC56D73759D5}"/>
              </a:ext>
            </a:extLst>
          </p:cNvPr>
          <p:cNvSpPr txBox="1"/>
          <p:nvPr/>
        </p:nvSpPr>
        <p:spPr>
          <a:xfrm>
            <a:off x="0" y="0"/>
            <a:ext cx="1079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dirty="0">
                <a:solidFill>
                  <a:srgbClr val="4A4240"/>
                </a:solidFill>
                <a:latin typeface="Raleway" panose="020F0502020204030204" pitchFamily="2" charset="-52"/>
              </a:rPr>
              <a:t>Задание 2.1 – Поисковые фразы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34BFA2-113D-E95B-EF0D-ABC18406D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" y="605804"/>
            <a:ext cx="8558784" cy="43717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107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25889E-A82E-5F78-53CB-D55FB5F596C5}"/>
              </a:ext>
            </a:extLst>
          </p:cNvPr>
          <p:cNvSpPr txBox="1"/>
          <p:nvPr/>
        </p:nvSpPr>
        <p:spPr>
          <a:xfrm>
            <a:off x="0" y="0"/>
            <a:ext cx="10795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dirty="0">
                <a:solidFill>
                  <a:srgbClr val="64605F"/>
                </a:solidFill>
                <a:latin typeface="Raleway" pitchFamily="2" charset="-52"/>
              </a:rPr>
              <a:t>Задание 2.2 – Анализ конкурентов (3 сайта)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F60C448-2070-B3F0-439C-2B0FF80C7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55715"/>
              </p:ext>
            </p:extLst>
          </p:nvPr>
        </p:nvGraphicFramePr>
        <p:xfrm>
          <a:off x="0" y="492442"/>
          <a:ext cx="5632704" cy="4299015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673890">
                  <a:extLst>
                    <a:ext uri="{9D8B030D-6E8A-4147-A177-3AD203B41FA5}">
                      <a16:colId xmlns:a16="http://schemas.microsoft.com/office/drawing/2014/main" val="11482726"/>
                    </a:ext>
                  </a:extLst>
                </a:gridCol>
                <a:gridCol w="826469">
                  <a:extLst>
                    <a:ext uri="{9D8B030D-6E8A-4147-A177-3AD203B41FA5}">
                      <a16:colId xmlns:a16="http://schemas.microsoft.com/office/drawing/2014/main" val="3793458639"/>
                    </a:ext>
                  </a:extLst>
                </a:gridCol>
                <a:gridCol w="826469">
                  <a:extLst>
                    <a:ext uri="{9D8B030D-6E8A-4147-A177-3AD203B41FA5}">
                      <a16:colId xmlns:a16="http://schemas.microsoft.com/office/drawing/2014/main" val="1360296652"/>
                    </a:ext>
                  </a:extLst>
                </a:gridCol>
                <a:gridCol w="826469">
                  <a:extLst>
                    <a:ext uri="{9D8B030D-6E8A-4147-A177-3AD203B41FA5}">
                      <a16:colId xmlns:a16="http://schemas.microsoft.com/office/drawing/2014/main" val="3375721522"/>
                    </a:ext>
                  </a:extLst>
                </a:gridCol>
                <a:gridCol w="826469">
                  <a:extLst>
                    <a:ext uri="{9D8B030D-6E8A-4147-A177-3AD203B41FA5}">
                      <a16:colId xmlns:a16="http://schemas.microsoft.com/office/drawing/2014/main" val="877368540"/>
                    </a:ext>
                  </a:extLst>
                </a:gridCol>
                <a:gridCol w="826469">
                  <a:extLst>
                    <a:ext uri="{9D8B030D-6E8A-4147-A177-3AD203B41FA5}">
                      <a16:colId xmlns:a16="http://schemas.microsoft.com/office/drawing/2014/main" val="2658537099"/>
                    </a:ext>
                  </a:extLst>
                </a:gridCol>
                <a:gridCol w="826469">
                  <a:extLst>
                    <a:ext uri="{9D8B030D-6E8A-4147-A177-3AD203B41FA5}">
                      <a16:colId xmlns:a16="http://schemas.microsoft.com/office/drawing/2014/main" val="1679060066"/>
                    </a:ext>
                  </a:extLst>
                </a:gridCol>
              </a:tblGrid>
              <a:tr h="186351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Название сайта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Место в рейтинге Яндекс / Google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Индекс качества сайта (</a:t>
                      </a:r>
                      <a:r>
                        <a:rPr lang="ru-RU" sz="1000" b="0" u="none" strike="noStrike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be1.ru</a:t>
                      </a: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Скорость загрузки страниц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Адаптивность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Наличие тегов (</a:t>
                      </a:r>
                      <a:r>
                        <a:rPr lang="en-US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Ctrl+U)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Фактический адрес сайта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7655583"/>
                  </a:ext>
                </a:extLst>
              </a:tr>
              <a:tr h="6500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1" u="none" strike="noStrike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Printio.ru</a:t>
                      </a:r>
                      <a:endParaRPr lang="en-US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91/100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2.1 с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96%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Имеются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u="none" strike="noStrike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printio.ru</a:t>
                      </a:r>
                      <a:endParaRPr lang="en-US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34312034"/>
                  </a:ext>
                </a:extLst>
              </a:tr>
              <a:tr h="8927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1" u="none" strike="noStrike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Vsemayki.ru</a:t>
                      </a:r>
                      <a:endParaRPr lang="en-US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88/100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2.6 с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94%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Имеются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u="none" strike="noStrike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vsemayki.ru</a:t>
                      </a:r>
                      <a:endParaRPr lang="en-US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36948012"/>
                  </a:ext>
                </a:extLst>
              </a:tr>
              <a:tr h="8927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1" u="none" strike="noStrike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Printdirect.ru</a:t>
                      </a:r>
                      <a:endParaRPr lang="en-US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85/100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2.9 с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90%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Имеются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u="none" strike="noStrike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printdirect.ru</a:t>
                      </a:r>
                      <a:endParaRPr lang="en-US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2044609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9E3923-9E5F-697A-3CA0-8A5163A1B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0831" y="492442"/>
            <a:ext cx="3401568" cy="42746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2256B9-85EE-F907-CC82-67D73F4C93A8}"/>
              </a:ext>
            </a:extLst>
          </p:cNvPr>
          <p:cNvSpPr txBox="1"/>
          <p:nvPr/>
        </p:nvSpPr>
        <p:spPr>
          <a:xfrm>
            <a:off x="5632704" y="4767072"/>
            <a:ext cx="4053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i="0" dirty="0">
                <a:solidFill>
                  <a:srgbClr val="64605F"/>
                </a:solidFill>
                <a:effectLst/>
                <a:latin typeface="Raleway" pitchFamily="2" charset="-52"/>
              </a:rPr>
              <a:t>Рисунок 2. Скриншот Яндекс Поиска</a:t>
            </a:r>
            <a:endParaRPr lang="ru-RU" sz="1400" dirty="0">
              <a:solidFill>
                <a:srgbClr val="64605F"/>
              </a:solidFill>
              <a:latin typeface="Raleway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8194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431F86-D8A9-CF4B-8F27-1E14D8FE5945}"/>
              </a:ext>
            </a:extLst>
          </p:cNvPr>
          <p:cNvSpPr txBox="1"/>
          <p:nvPr/>
        </p:nvSpPr>
        <p:spPr>
          <a:xfrm>
            <a:off x="0" y="11669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dirty="0">
                <a:solidFill>
                  <a:srgbClr val="64605F"/>
                </a:solidFill>
                <a:latin typeface="Raleway" pitchFamily="2" charset="-52"/>
              </a:rPr>
              <a:t>Итоги проведенного анализа и оценки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388E01AB-A160-1CC3-2AFC-BF555B701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06983"/>
              </p:ext>
            </p:extLst>
          </p:nvPr>
        </p:nvGraphicFramePr>
        <p:xfrm>
          <a:off x="85344" y="473267"/>
          <a:ext cx="8607554" cy="465856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06879">
                  <a:extLst>
                    <a:ext uri="{9D8B030D-6E8A-4147-A177-3AD203B41FA5}">
                      <a16:colId xmlns:a16="http://schemas.microsoft.com/office/drawing/2014/main" val="398234752"/>
                    </a:ext>
                  </a:extLst>
                </a:gridCol>
                <a:gridCol w="1480135">
                  <a:extLst>
                    <a:ext uri="{9D8B030D-6E8A-4147-A177-3AD203B41FA5}">
                      <a16:colId xmlns:a16="http://schemas.microsoft.com/office/drawing/2014/main" val="3406788065"/>
                    </a:ext>
                  </a:extLst>
                </a:gridCol>
                <a:gridCol w="1480135">
                  <a:extLst>
                    <a:ext uri="{9D8B030D-6E8A-4147-A177-3AD203B41FA5}">
                      <a16:colId xmlns:a16="http://schemas.microsoft.com/office/drawing/2014/main" val="1697905394"/>
                    </a:ext>
                  </a:extLst>
                </a:gridCol>
                <a:gridCol w="1480135">
                  <a:extLst>
                    <a:ext uri="{9D8B030D-6E8A-4147-A177-3AD203B41FA5}">
                      <a16:colId xmlns:a16="http://schemas.microsoft.com/office/drawing/2014/main" val="447321595"/>
                    </a:ext>
                  </a:extLst>
                </a:gridCol>
                <a:gridCol w="1480135">
                  <a:extLst>
                    <a:ext uri="{9D8B030D-6E8A-4147-A177-3AD203B41FA5}">
                      <a16:colId xmlns:a16="http://schemas.microsoft.com/office/drawing/2014/main" val="362783216"/>
                    </a:ext>
                  </a:extLst>
                </a:gridCol>
                <a:gridCol w="1480135">
                  <a:extLst>
                    <a:ext uri="{9D8B030D-6E8A-4147-A177-3AD203B41FA5}">
                      <a16:colId xmlns:a16="http://schemas.microsoft.com/office/drawing/2014/main" val="1621500594"/>
                    </a:ext>
                  </a:extLst>
                </a:gridCol>
              </a:tblGrid>
              <a:tr h="70541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№</a:t>
                      </a:r>
                    </a:p>
                  </a:txBody>
                  <a:tcPr marL="35605" marR="59342" marT="37089" marB="3708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1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наименование конкурента</a:t>
                      </a:r>
                      <a:endParaRPr lang="ru-RU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1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имя сайта конкурента</a:t>
                      </a:r>
                      <a:endParaRPr lang="ru-RU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000" b="1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URL </a:t>
                      </a:r>
                      <a:r>
                        <a:rPr lang="ru-RU" sz="1000" b="1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сайта конкурента</a:t>
                      </a:r>
                      <a:endParaRPr lang="ru-RU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1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Преимущества информационной кампании</a:t>
                      </a:r>
                      <a:endParaRPr lang="ru-RU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1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Недостатки информационной кампании</a:t>
                      </a:r>
                      <a:endParaRPr lang="ru-RU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extLst>
                  <a:ext uri="{0D108BD9-81ED-4DB2-BD59-A6C34878D82A}">
                    <a16:rowId xmlns:a16="http://schemas.microsoft.com/office/drawing/2014/main" val="2192617343"/>
                  </a:ext>
                </a:extLst>
              </a:tr>
              <a:tr h="114862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1.</a:t>
                      </a:r>
                    </a:p>
                  </a:txBody>
                  <a:tcPr marL="35605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Печать принтов на одежде</a:t>
                      </a: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dirty="0" err="1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Printio</a:t>
                      </a:r>
                      <a:endParaRPr lang="en-US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u="none" strike="noStrike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https://printio.ru/</a:t>
                      </a:r>
                      <a:endParaRPr lang="en-US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Большой онлайн-конструктор</a:t>
                      </a:r>
                      <a:b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</a:b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Интеграция с маркетплейсами</a:t>
                      </a:r>
                      <a:b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</a:br>
                      <a:endParaRPr lang="ru-RU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Слабая мобильная версия</a:t>
                      </a:r>
                      <a:b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</a:b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Редкий блог / нет</a:t>
                      </a:r>
                    </a:p>
                  </a:txBody>
                  <a:tcPr marL="59342" marR="35605" marT="37089" marB="37089" anchor="ctr"/>
                </a:tc>
                <a:extLst>
                  <a:ext uri="{0D108BD9-81ED-4DB2-BD59-A6C34878D82A}">
                    <a16:rowId xmlns:a16="http://schemas.microsoft.com/office/drawing/2014/main" val="687584155"/>
                  </a:ext>
                </a:extLst>
              </a:tr>
              <a:tr h="13702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2.</a:t>
                      </a:r>
                    </a:p>
                  </a:txBody>
                  <a:tcPr marL="35605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Печать на футболках и сувенирах</a:t>
                      </a: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Vsemayki</a:t>
                      </a: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u="none" strike="noStrike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https://vsemayki.ru/</a:t>
                      </a:r>
                      <a:endParaRPr lang="en-US" sz="1000" b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Низкие цены и частые акции</a:t>
                      </a: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Устаревший визуальный стиль</a:t>
                      </a:r>
                      <a:b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</a:b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Слабая SMM-стратегия (мало </a:t>
                      </a:r>
                      <a:r>
                        <a:rPr lang="ru-RU" sz="1000" b="0" dirty="0" err="1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Reels</a:t>
                      </a: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)</a:t>
                      </a:r>
                      <a:b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</a:br>
                      <a:endParaRPr lang="ru-RU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35605" marT="37089" marB="37089" anchor="ctr"/>
                </a:tc>
                <a:extLst>
                  <a:ext uri="{0D108BD9-81ED-4DB2-BD59-A6C34878D82A}">
                    <a16:rowId xmlns:a16="http://schemas.microsoft.com/office/drawing/2014/main" val="4236065120"/>
                  </a:ext>
                </a:extLst>
              </a:tr>
              <a:tr h="12695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3.</a:t>
                      </a:r>
                    </a:p>
                  </a:txBody>
                  <a:tcPr marL="35605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Печать принтов от 1 шт.</a:t>
                      </a: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dirty="0" err="1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Printdirect</a:t>
                      </a:r>
                      <a:endParaRPr lang="en-US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0" b="0" u="none" strike="noStrike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https://printdirect.ru/</a:t>
                      </a:r>
                      <a:endParaRPr lang="en-US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Печать от 1 единицы</a:t>
                      </a:r>
                      <a:b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</a:br>
                      <a:endParaRPr lang="ru-RU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59342" marT="37089" marB="3708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Почти отсутствуют соцсети</a:t>
                      </a:r>
                      <a:b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</a:br>
                      <a: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  <a:t>— Нет раздела «О производителе»</a:t>
                      </a:r>
                      <a:br>
                        <a:rPr lang="ru-RU" sz="1000" b="0" dirty="0">
                          <a:solidFill>
                            <a:srgbClr val="64605F"/>
                          </a:solidFill>
                          <a:effectLst/>
                          <a:latin typeface="Raleway" pitchFamily="2" charset="-52"/>
                        </a:rPr>
                      </a:br>
                      <a:endParaRPr lang="ru-RU" sz="1000" b="0" dirty="0">
                        <a:solidFill>
                          <a:srgbClr val="64605F"/>
                        </a:solidFill>
                        <a:effectLst/>
                        <a:latin typeface="Raleway" pitchFamily="2" charset="-52"/>
                      </a:endParaRPr>
                    </a:p>
                  </a:txBody>
                  <a:tcPr marL="59342" marR="35605" marT="37089" marB="37089" anchor="ctr"/>
                </a:tc>
                <a:extLst>
                  <a:ext uri="{0D108BD9-81ED-4DB2-BD59-A6C34878D82A}">
                    <a16:rowId xmlns:a16="http://schemas.microsoft.com/office/drawing/2014/main" val="78798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016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233B2D-E65D-363E-C377-03B2C7F0EFA8}"/>
              </a:ext>
            </a:extLst>
          </p:cNvPr>
          <p:cNvSpPr txBox="1"/>
          <p:nvPr/>
        </p:nvSpPr>
        <p:spPr>
          <a:xfrm>
            <a:off x="0" y="0"/>
            <a:ext cx="4995582" cy="43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64605F"/>
                </a:solidFill>
                <a:effectLst/>
                <a:latin typeface="quote-cjk-patch"/>
              </a:rPr>
              <a:t>Целевая аудитория проекта</a:t>
            </a:r>
            <a:r>
              <a:rPr lang="ru-RU" sz="2800" b="1" dirty="0">
                <a:solidFill>
                  <a:srgbClr val="64605F"/>
                </a:solidFill>
                <a:latin typeface="quote-cjk-patch"/>
              </a:rPr>
              <a:t>:</a:t>
            </a:r>
            <a:endParaRPr lang="ru-RU" sz="2800" b="1" dirty="0">
              <a:solidFill>
                <a:srgbClr val="64605F"/>
              </a:solidFill>
              <a:effectLst/>
              <a:latin typeface="quote-cjk-patch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53F552-06DA-6FF4-2F6A-819D0DE73D4C}"/>
              </a:ext>
            </a:extLst>
          </p:cNvPr>
          <p:cNvSpPr txBox="1"/>
          <p:nvPr/>
        </p:nvSpPr>
        <p:spPr>
          <a:xfrm>
            <a:off x="0" y="437171"/>
            <a:ext cx="8890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64605F"/>
                </a:solidFill>
                <a:effectLst/>
                <a:latin typeface="quote-cjk-patch"/>
              </a:rPr>
              <a:t>Женщины и мужчины 18–45 лет, жители крупных городов, интересующиеся искусством, модой, ручной работой и экологичным потреблением, с доходом средним и выше.</a:t>
            </a:r>
          </a:p>
          <a:p>
            <a:pPr>
              <a:buNone/>
            </a:pPr>
            <a:br>
              <a:rPr lang="ru-RU" dirty="0">
                <a:solidFill>
                  <a:srgbClr val="64605F"/>
                </a:solidFill>
              </a:rPr>
            </a:br>
            <a:endParaRPr lang="ru-RU" dirty="0">
              <a:solidFill>
                <a:srgbClr val="64605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426747-19B2-7891-C0EB-449422B16150}"/>
              </a:ext>
            </a:extLst>
          </p:cNvPr>
          <p:cNvSpPr txBox="1"/>
          <p:nvPr/>
        </p:nvSpPr>
        <p:spPr>
          <a:xfrm>
            <a:off x="0" y="1476578"/>
            <a:ext cx="2535936" cy="127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rgbClr val="64605F"/>
                </a:solidFill>
                <a:effectLst/>
                <a:latin typeface="quote-cjk-patch"/>
              </a:rPr>
              <a:t>3 сегмента ЦА</a:t>
            </a:r>
            <a:r>
              <a:rPr lang="en-US" sz="2400" b="1" dirty="0">
                <a:solidFill>
                  <a:srgbClr val="64605F"/>
                </a:solidFill>
                <a:effectLst/>
                <a:latin typeface="quote-cjk-patch"/>
              </a:rPr>
              <a:t>:</a:t>
            </a:r>
            <a:endParaRPr lang="ru-RU" sz="2400" b="1" dirty="0">
              <a:solidFill>
                <a:srgbClr val="64605F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ru-RU" sz="2400" dirty="0">
                <a:solidFill>
                  <a:srgbClr val="64605F"/>
                </a:solidFill>
              </a:rPr>
            </a:br>
            <a:endParaRPr lang="ru-RU" sz="2400" dirty="0">
              <a:solidFill>
                <a:srgbClr val="64605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F2E397-5BF8-28E1-23C7-178A671DBE4D}"/>
              </a:ext>
            </a:extLst>
          </p:cNvPr>
          <p:cNvSpPr txBox="1"/>
          <p:nvPr/>
        </p:nvSpPr>
        <p:spPr>
          <a:xfrm>
            <a:off x="0" y="1796849"/>
            <a:ext cx="79735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Сегмент 1. Молодые девушки и студентки. 18–28 лет.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Портрет: учащиеся вузов и молодые специалисты. Активны в Instagram, </a:t>
            </a:r>
            <a:r>
              <a:rPr lang="ru-RU" sz="1000" b="0" dirty="0" err="1">
                <a:solidFill>
                  <a:srgbClr val="64605F"/>
                </a:solidFill>
                <a:effectLst/>
                <a:latin typeface="Raleway" pitchFamily="2" charset="-52"/>
              </a:rPr>
              <a:t>Pinterest</a:t>
            </a: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, </a:t>
            </a:r>
            <a:r>
              <a:rPr lang="ru-RU" sz="1000" b="0" dirty="0" err="1">
                <a:solidFill>
                  <a:srgbClr val="64605F"/>
                </a:solidFill>
                <a:effectLst/>
                <a:latin typeface="Raleway" pitchFamily="2" charset="-52"/>
              </a:rPr>
              <a:t>Telegram</a:t>
            </a: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 и ВКонтакте.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Что покупают: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— Футболки и худи с акварельными принтами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Как действуют: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— Ищут вдохновение через хештеги #пастельнаяодежда и #авторскиепринты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69EF60-2B79-7E8B-1146-66119A21F6B9}"/>
              </a:ext>
            </a:extLst>
          </p:cNvPr>
          <p:cNvSpPr txBox="1"/>
          <p:nvPr/>
        </p:nvSpPr>
        <p:spPr>
          <a:xfrm>
            <a:off x="0" y="2756416"/>
            <a:ext cx="79735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Сегмент 2. Творческие профессионалы. 25–35 лет.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Портрет: дизайнеры, иллюстраторы, фотографы, маркетологи. Ценят индивидуальность и самовыражение.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Что нужно: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— Базовые вещи с уникальным художественным акцентом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Как действуют:</a:t>
            </a:r>
          </a:p>
          <a:p>
            <a:pPr algn="l" latinLnBrk="1">
              <a:buNone/>
            </a:pP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— Сравнивают портфолио художников перед заказом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8EC478-4C96-C7E0-C798-41DDE4E20788}"/>
              </a:ext>
            </a:extLst>
          </p:cNvPr>
          <p:cNvSpPr txBox="1"/>
          <p:nvPr/>
        </p:nvSpPr>
        <p:spPr>
          <a:xfrm>
            <a:off x="0" y="3698361"/>
            <a:ext cx="46329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900" b="0" dirty="0">
                <a:solidFill>
                  <a:srgbClr val="64605F"/>
                </a:solidFill>
                <a:effectLst/>
                <a:latin typeface="Raleway" pitchFamily="2" charset="-52"/>
              </a:rPr>
              <a:t>Сегмент 3. Женщины, ценящие стиль и уют. 30–45 лет.</a:t>
            </a:r>
          </a:p>
          <a:p>
            <a:pPr algn="l" latinLnBrk="1">
              <a:buNone/>
            </a:pPr>
            <a:r>
              <a:rPr lang="ru-RU" sz="900" b="0" dirty="0">
                <a:solidFill>
                  <a:srgbClr val="64605F"/>
                </a:solidFill>
                <a:effectLst/>
                <a:latin typeface="Raleway" pitchFamily="2" charset="-52"/>
              </a:rPr>
              <a:t>Портрет: </a:t>
            </a:r>
            <a:r>
              <a:rPr lang="ru-RU" sz="1000" b="0" dirty="0">
                <a:solidFill>
                  <a:srgbClr val="64605F"/>
                </a:solidFill>
                <a:effectLst/>
                <a:latin typeface="Raleway" pitchFamily="2" charset="-52"/>
              </a:rPr>
              <a:t>специалисты</a:t>
            </a:r>
            <a:r>
              <a:rPr lang="ru-RU" sz="900" b="0" dirty="0">
                <a:solidFill>
                  <a:srgbClr val="64605F"/>
                </a:solidFill>
                <a:effectLst/>
                <a:latin typeface="Raleway" pitchFamily="2" charset="-52"/>
              </a:rPr>
              <a:t>, руководители, мамы в декрете. Выбирают качество и осмысленность.</a:t>
            </a:r>
          </a:p>
          <a:p>
            <a:pPr algn="l" latinLnBrk="1">
              <a:buNone/>
            </a:pPr>
            <a:r>
              <a:rPr lang="ru-RU" sz="900" b="0" dirty="0">
                <a:solidFill>
                  <a:srgbClr val="64605F"/>
                </a:solidFill>
                <a:effectLst/>
                <a:latin typeface="Raleway" pitchFamily="2" charset="-52"/>
              </a:rPr>
              <a:t>Что интересует:</a:t>
            </a:r>
          </a:p>
          <a:p>
            <a:pPr algn="l" latinLnBrk="1">
              <a:buNone/>
            </a:pPr>
            <a:r>
              <a:rPr lang="ru-RU" sz="900" b="0" dirty="0">
                <a:solidFill>
                  <a:srgbClr val="64605F"/>
                </a:solidFill>
                <a:effectLst/>
                <a:latin typeface="Raleway" pitchFamily="2" charset="-52"/>
              </a:rPr>
              <a:t>— Лаконичные вещи с художественной изюминкой</a:t>
            </a:r>
          </a:p>
          <a:p>
            <a:pPr algn="l" latinLnBrk="1">
              <a:buNone/>
            </a:pPr>
            <a:r>
              <a:rPr lang="ru-RU" sz="900" b="0" dirty="0">
                <a:solidFill>
                  <a:srgbClr val="64605F"/>
                </a:solidFill>
                <a:effectLst/>
                <a:latin typeface="Raleway" pitchFamily="2" charset="-52"/>
              </a:rPr>
              <a:t>Как действуют:</a:t>
            </a:r>
          </a:p>
          <a:p>
            <a:pPr algn="l" latinLnBrk="1">
              <a:buNone/>
            </a:pPr>
            <a:r>
              <a:rPr lang="ru-RU" sz="900" b="0" dirty="0">
                <a:solidFill>
                  <a:srgbClr val="64605F"/>
                </a:solidFill>
                <a:effectLst/>
                <a:latin typeface="Raleway" pitchFamily="2" charset="-52"/>
              </a:rPr>
              <a:t>— Покупают по рекомендациям знакомых и через </a:t>
            </a:r>
            <a:r>
              <a:rPr lang="ru-RU" sz="900" b="0" dirty="0" err="1">
                <a:solidFill>
                  <a:srgbClr val="64605F"/>
                </a:solidFill>
                <a:effectLst/>
                <a:latin typeface="Raleway" pitchFamily="2" charset="-52"/>
              </a:rPr>
              <a:t>Telegram</a:t>
            </a:r>
            <a:r>
              <a:rPr lang="ru-RU" sz="900" b="0" dirty="0">
                <a:solidFill>
                  <a:srgbClr val="64605F"/>
                </a:solidFill>
                <a:effectLst/>
                <a:latin typeface="Raleway" pitchFamily="2" charset="-52"/>
              </a:rPr>
              <a:t>-каналы</a:t>
            </a:r>
          </a:p>
          <a:p>
            <a:pPr>
              <a:buNone/>
            </a:pPr>
            <a:br>
              <a:rPr lang="ru-RU" sz="900" dirty="0">
                <a:solidFill>
                  <a:srgbClr val="64605F"/>
                </a:solidFill>
                <a:latin typeface="Raleway" pitchFamily="2" charset="-52"/>
              </a:rPr>
            </a:br>
            <a:endParaRPr lang="ru-RU" sz="900" dirty="0">
              <a:solidFill>
                <a:srgbClr val="64605F"/>
              </a:solidFill>
              <a:latin typeface="Raleway" pitchFamily="2" charset="-52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FD7DD66-F42A-A09F-13B1-8924AFE03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8" b="89972" l="10000" r="99353">
                        <a14:foregroundMark x1="24286" y1="53376" x2="24286" y2="53376"/>
                        <a14:foregroundMark x1="21671" y1="47918" x2="22668" y2="57622"/>
                        <a14:foregroundMark x1="22992" y1="47311" x2="22992" y2="47311"/>
                        <a14:foregroundMark x1="22992" y1="47311" x2="22992" y2="47311"/>
                        <a14:foregroundMark x1="22992" y1="47311" x2="22992" y2="47311"/>
                        <a14:foregroundMark x1="21995" y1="38213" x2="21995" y2="38213"/>
                        <a14:foregroundMark x1="22668" y1="46704" x2="18733" y2="64294"/>
                        <a14:foregroundMark x1="18410" y1="68540" x2="22345" y2="52163"/>
                        <a14:foregroundMark x1="16469" y1="55803" x2="16469" y2="55803"/>
                        <a14:foregroundMark x1="16792" y1="55803" x2="19057" y2="53983"/>
                        <a14:foregroundMark x1="38652" y1="49737" x2="37332" y2="55803"/>
                        <a14:foregroundMark x1="32776" y1="56409" x2="32776" y2="56409"/>
                        <a14:foregroundMark x1="73235" y1="64901" x2="75526" y2="64901"/>
                        <a14:foregroundMark x1="83369" y1="61262" x2="88248" y2="58229"/>
                        <a14:foregroundMark x1="86307" y1="55803" x2="68679" y2="62475"/>
                        <a14:foregroundMark x1="69650" y1="63688" x2="76173" y2="67934"/>
                        <a14:foregroundMark x1="69326" y1="68540" x2="73235" y2="70360"/>
                        <a14:foregroundMark x1="65094" y1="57016" x2="63774" y2="54590"/>
                        <a14:foregroundMark x1="64097" y1="44885" x2="64420" y2="41852"/>
                        <a14:foregroundMark x1="65094" y1="43065" x2="51375" y2="43672"/>
                        <a14:foregroundMark x1="53019" y1="44278" x2="56927" y2="35180"/>
                        <a14:foregroundMark x1="52695" y1="37606" x2="53666" y2="37000"/>
                        <a14:foregroundMark x1="52022" y1="40639" x2="51375" y2="42459"/>
                        <a14:foregroundMark x1="51375" y1="43672" x2="51698" y2="47918"/>
                        <a14:foregroundMark x1="52022" y1="46704" x2="52022" y2="46704"/>
                        <a14:foregroundMark x1="52022" y1="48524" x2="52022" y2="48524"/>
                        <a14:foregroundMark x1="53019" y1="49131" x2="53019" y2="49131"/>
                        <a14:foregroundMark x1="53989" y1="49131" x2="55606" y2="47918"/>
                        <a14:foregroundMark x1="56280" y1="46704" x2="57574" y2="46098"/>
                        <a14:foregroundMark x1="58221" y1="45491" x2="58221" y2="45491"/>
                        <a14:foregroundMark x1="59542" y1="43065" x2="60836" y2="42459"/>
                        <a14:foregroundMark x1="61159" y1="41852" x2="61159" y2="41852"/>
                        <a14:foregroundMark x1="61159" y1="40639" x2="61159" y2="38819"/>
                        <a14:foregroundMark x1="61482" y1="38819" x2="61482" y2="38819"/>
                        <a14:foregroundMark x1="62480" y1="40639" x2="62480" y2="40639"/>
                        <a14:foregroundMark x1="62480" y1="42459" x2="62480" y2="42459"/>
                        <a14:foregroundMark x1="62803" y1="41245" x2="62803" y2="41245"/>
                        <a14:foregroundMark x1="62803" y1="46098" x2="62803" y2="46098"/>
                        <a14:foregroundMark x1="62803" y1="47918" x2="62803" y2="47918"/>
                        <a14:foregroundMark x1="62803" y1="48524" x2="62803" y2="50344"/>
                        <a14:foregroundMark x1="62156" y1="50344" x2="62156" y2="50344"/>
                        <a14:foregroundMark x1="61806" y1="50344" x2="62803" y2="48524"/>
                        <a14:foregroundMark x1="63127" y1="47918" x2="63127" y2="47918"/>
                        <a14:foregroundMark x1="63450" y1="47311" x2="63450" y2="47311"/>
                        <a14:foregroundMark x1="63774" y1="44885" x2="63774" y2="43065"/>
                        <a14:foregroundMark x1="63127" y1="41245" x2="62803" y2="38819"/>
                        <a14:foregroundMark x1="62480" y1="38213" x2="60189" y2="33967"/>
                        <a14:foregroundMark x1="64097" y1="38213" x2="62803" y2="34573"/>
                        <a14:foregroundMark x1="76173" y1="44885" x2="75849" y2="55196"/>
                        <a14:foregroundMark x1="74879" y1="55803" x2="76173" y2="44885"/>
                        <a14:foregroundMark x1="53989" y1="35786" x2="55606" y2="34573"/>
                        <a14:foregroundMark x1="54960" y1="33360" x2="58895" y2="33360"/>
                        <a14:foregroundMark x1="57251" y1="32147" x2="59865" y2="32147"/>
                        <a14:foregroundMark x1="73881" y1="74606" x2="73881" y2="74606"/>
                        <a14:foregroundMark x1="67035" y1="61262" x2="67035" y2="61262"/>
                        <a14:foregroundMark x1="77170" y1="64294" x2="85633" y2="60049"/>
                        <a14:foregroundMark x1="86307" y1="59442" x2="97062" y2="48524"/>
                        <a14:foregroundMark x1="94124" y1="49131" x2="99353" y2="43065"/>
                        <a14:foregroundMark x1="81402" y1="64901" x2="80431" y2="65507"/>
                        <a14:foregroundMark x1="82695" y1="66114" x2="81078" y2="66114"/>
                        <a14:foregroundMark x1="85310" y1="63688" x2="90216" y2="61868"/>
                        <a14:foregroundMark x1="92507" y1="58835" x2="95768" y2="57622"/>
                        <a14:foregroundMark x1="85633" y1="53376" x2="90863" y2="45491"/>
                        <a14:foregroundMark x1="93477" y1="43065" x2="99030" y2="39426"/>
                        <a14:foregroundMark x1="77493" y1="67327" x2="74555" y2="72180"/>
                        <a14:foregroundMark x1="56927" y1="32754" x2="60836" y2="37606"/>
                        <a14:foregroundMark x1="54313" y1="52163" x2="52022" y2="40032"/>
                        <a14:foregroundMark x1="52695" y1="56409" x2="55283" y2="52163"/>
                        <a14:foregroundMark x1="58221" y1="58229" x2="56604" y2="38213"/>
                        <a14:foregroundMark x1="62803" y1="47918" x2="62803" y2="37606"/>
                        <a14:foregroundMark x1="79434" y1="67934" x2="76819" y2="70966"/>
                        <a14:foregroundMark x1="77170" y1="69147" x2="72264" y2="74606"/>
                        <a14:foregroundMark x1="72911" y1="65507" x2="70620" y2="62475"/>
                        <a14:foregroundMark x1="73558" y1="60655" x2="70620" y2="60655"/>
                        <a14:foregroundMark x1="57251" y1="58835" x2="55283" y2="47311"/>
                        <a14:foregroundMark x1="52345" y1="45491" x2="57251" y2="36393"/>
                        <a14:foregroundMark x1="60189" y1="38819" x2="55606" y2="44885"/>
                        <a14:foregroundMark x1="62156" y1="47311" x2="58895" y2="52770"/>
                        <a14:foregroundMark x1="69003" y1="65507" x2="69326" y2="69753"/>
                        <a14:foregroundMark x1="73558" y1="70966" x2="79111" y2="65507"/>
                        <a14:foregroundMark x1="86954" y1="62475" x2="95445" y2="57622"/>
                        <a14:foregroundMark x1="75202" y1="55196" x2="72264" y2="564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985" y="3041861"/>
            <a:ext cx="3938016" cy="201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81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2AAEB8-F78D-561B-F3EB-DAFBCF142AB0}"/>
              </a:ext>
            </a:extLst>
          </p:cNvPr>
          <p:cNvSpPr txBox="1"/>
          <p:nvPr/>
        </p:nvSpPr>
        <p:spPr>
          <a:xfrm>
            <a:off x="0" y="481631"/>
            <a:ext cx="275716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900" b="1" dirty="0"/>
              <a:t>1. Сегмент: Зумеры-эстеты и гик-молодёжь (14-25 лет)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Имя:</a:t>
            </a:r>
            <a:r>
              <a:rPr lang="ru-RU" sz="900" dirty="0"/>
              <a:t> Алексей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Возраст:</a:t>
            </a:r>
            <a:r>
              <a:rPr lang="ru-RU" sz="900" dirty="0"/>
              <a:t> 17 лет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Род занятий:</a:t>
            </a:r>
            <a:r>
              <a:rPr lang="ru-RU" sz="900" dirty="0"/>
              <a:t> Ученик 11 класса / студент колледжа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Интересы: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 err="1"/>
              <a:t>Стритвир</a:t>
            </a:r>
            <a:r>
              <a:rPr lang="ru-RU" sz="900" dirty="0"/>
              <a:t>-культура, оверсайз-силуэты и кастомная одежда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Аниме, поп-культура, инди-рок музыка и эстетика TikTok/</a:t>
            </a:r>
            <a:r>
              <a:rPr lang="ru-RU" sz="900" dirty="0" err="1"/>
              <a:t>Pinterest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Любит собирать яркие луки для школы/вуза и фотосессий в соцсети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Поведение: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Покупает одежду ради визуала и хайпа; хочет, чтобы принты отражали его внутренний мир и музыкальный/гик-вкус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Готов отдать последние деньги (2–5 тыс. руб.) за дроп от локального бренда или художника, если вещь «завирусилась»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Обращает внимание на фиты (посадку): ищет экстремальный оверсайз, спущенное плечо и плотную ткань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Как привлечь: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Предложить линейку «Оверсайз футболки и худи с </a:t>
            </a:r>
            <a:r>
              <a:rPr lang="ru-RU" sz="900" dirty="0" err="1"/>
              <a:t>double-print</a:t>
            </a:r>
            <a:r>
              <a:rPr lang="ru-RU" sz="900" dirty="0"/>
              <a:t> (маленький лого спереди + огромный графичный арт на спине)»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Продвигать через эстетичные </a:t>
            </a:r>
            <a:r>
              <a:rPr lang="ru-RU" sz="900" dirty="0" err="1"/>
              <a:t>Reels</a:t>
            </a:r>
            <a:r>
              <a:rPr lang="ru-RU" sz="900" dirty="0"/>
              <a:t>/</a:t>
            </a:r>
            <a:r>
              <a:rPr lang="ru-RU" sz="900" dirty="0" err="1"/>
              <a:t>Shorts</a:t>
            </a:r>
            <a:r>
              <a:rPr lang="ru-RU" sz="900" dirty="0"/>
              <a:t>: показывать стилизацию вещей в готовые аутфиты (</a:t>
            </a:r>
            <a:r>
              <a:rPr lang="ru-RU" sz="900" dirty="0" err="1"/>
              <a:t>lookbook</a:t>
            </a:r>
            <a:r>
              <a:rPr lang="ru-RU" sz="9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D88B1-D3FB-DA81-4EC5-59B9939DF3A9}"/>
              </a:ext>
            </a:extLst>
          </p:cNvPr>
          <p:cNvSpPr txBox="1"/>
          <p:nvPr/>
        </p:nvSpPr>
        <p:spPr>
          <a:xfrm>
            <a:off x="2830605" y="481631"/>
            <a:ext cx="30121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900" b="1" dirty="0"/>
              <a:t>2. Сегмент: Креативный класс (25-35 лет)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Имя:</a:t>
            </a:r>
            <a:r>
              <a:rPr lang="ru-RU" sz="900" dirty="0"/>
              <a:t> Анна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Возраст:</a:t>
            </a:r>
            <a:r>
              <a:rPr lang="ru-RU" sz="900" dirty="0"/>
              <a:t> 28 лет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Род занятий:</a:t>
            </a:r>
            <a:r>
              <a:rPr lang="ru-RU" sz="900" dirty="0"/>
              <a:t> Графический дизайнер / маркетолог / фрилансер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Интересы: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Авторская иллюстрация, независимые бренды, походы на локальные маркеты (условные «Маркет Местная еда», «Ламбада»)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Ценит концептуальный минимализм или, наоборот, сложный </a:t>
            </a:r>
            <a:r>
              <a:rPr lang="ru-RU" sz="900" dirty="0" err="1"/>
              <a:t>нео</a:t>
            </a:r>
            <a:r>
              <a:rPr lang="ru-RU" sz="900" dirty="0"/>
              <a:t>-нуар/</a:t>
            </a:r>
            <a:r>
              <a:rPr lang="ru-RU" sz="900" dirty="0" err="1"/>
              <a:t>дарк</a:t>
            </a:r>
            <a:r>
              <a:rPr lang="ru-RU" sz="900" dirty="0"/>
              <a:t>-эстетику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Совмещает комфорт и стиль: одежда должна подходить и для работы в коворкинге, и для вечернего бара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Поведение: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Ищет базовую, но не скучную одежду. Принт для неё — способ показать свой изысканный визуальный вкус («для тех, кто шарит»)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Важно качество: проверяет состав ткани (только 100% плотный хлопок), тип печати (чтобы принт не трескался после стирки)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Готова платить 5–10 тыс. руб. за качественный свитшот или шоппер из плотной парусины с уникальной графикой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Как привлечь: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Создать капсульную коллекцию «Art-</a:t>
            </a:r>
            <a:r>
              <a:rPr lang="ru-RU" sz="900" dirty="0" err="1"/>
              <a:t>to</a:t>
            </a:r>
            <a:r>
              <a:rPr lang="ru-RU" sz="900" dirty="0"/>
              <a:t>-</a:t>
            </a:r>
            <a:r>
              <a:rPr lang="ru-RU" sz="900" dirty="0" err="1"/>
              <a:t>Wear</a:t>
            </a:r>
            <a:r>
              <a:rPr lang="ru-RU" sz="900" dirty="0"/>
              <a:t>» (одежда как холст) с акцентом на экологичность и премиальное качество пошива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7A09E-2135-2BE3-0810-5E2A869C8906}"/>
              </a:ext>
            </a:extLst>
          </p:cNvPr>
          <p:cNvSpPr txBox="1"/>
          <p:nvPr/>
        </p:nvSpPr>
        <p:spPr>
          <a:xfrm>
            <a:off x="5842743" y="481630"/>
            <a:ext cx="33012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900" b="1" dirty="0"/>
              <a:t>3. Сегмент: Коллекционеры эксклюзивной одежды (35-45+ лет)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Имя:</a:t>
            </a:r>
            <a:r>
              <a:rPr lang="ru-RU" sz="900" dirty="0"/>
              <a:t> Дмитрий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Возраст:</a:t>
            </a:r>
            <a:r>
              <a:rPr lang="ru-RU" sz="900" dirty="0"/>
              <a:t> 40 лет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Род занятий:</a:t>
            </a:r>
            <a:r>
              <a:rPr lang="ru-RU" sz="900" dirty="0"/>
              <a:t> Предприниматель / топ-менеджер в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Интересы: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Современная урбанистика, архитектура, коллекционирование редких вещей (от винила до кроссовок)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Предпочитает культовые </a:t>
            </a:r>
            <a:r>
              <a:rPr lang="ru-RU" sz="900" dirty="0" err="1"/>
              <a:t>стритвир</a:t>
            </a:r>
            <a:r>
              <a:rPr lang="ru-RU" sz="900" dirty="0"/>
              <a:t>-бренды (вроде </a:t>
            </a:r>
            <a:r>
              <a:rPr lang="ru-RU" sz="900" dirty="0" err="1"/>
              <a:t>Supreme</a:t>
            </a:r>
            <a:r>
              <a:rPr lang="ru-RU" sz="900" dirty="0"/>
              <a:t>, Stone Island, трансформированные под арт)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Ценит вещи с историей, манифестом или сложной технологией создания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Поведение: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Ищет эксклюзивность. Не станет носить масс-маркет; покупает вещи из лимитированных коллекций (дропов), которых выпущено всего 20-50 штук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Готов платить 15–40 тыс. руб. за куртку, джинсовку с ручным </a:t>
            </a:r>
            <a:r>
              <a:rPr lang="ru-RU" sz="900" dirty="0" err="1"/>
              <a:t>кастомом</a:t>
            </a:r>
            <a:r>
              <a:rPr lang="ru-RU" sz="900" dirty="0"/>
              <a:t> (</a:t>
            </a:r>
            <a:r>
              <a:rPr lang="ru-RU" sz="900" dirty="0" err="1"/>
              <a:t>hand-painted</a:t>
            </a:r>
            <a:r>
              <a:rPr lang="ru-RU" sz="900" dirty="0"/>
              <a:t>) или сложную вышивку поверх принта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Важна статусность и долговечность: вещь должна выглядеть дорого и сохранять вид годами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 b="1" dirty="0"/>
              <a:t>Как привлечь:</a:t>
            </a:r>
            <a:endParaRPr lang="ru-RU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Запустить формат «</a:t>
            </a:r>
            <a:r>
              <a:rPr lang="ru-RU" sz="900" dirty="0" err="1"/>
              <a:t>Numbered</a:t>
            </a:r>
            <a:r>
              <a:rPr lang="ru-RU" sz="900" dirty="0"/>
              <a:t> </a:t>
            </a:r>
            <a:r>
              <a:rPr lang="ru-RU" sz="900" dirty="0" err="1"/>
              <a:t>Drops</a:t>
            </a:r>
            <a:r>
              <a:rPr lang="ru-RU" sz="900" dirty="0"/>
              <a:t>» — каждая вещь в коллекции имеет свой уникальный нашитый номер (например, 03/25)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900" dirty="0"/>
              <a:t>Предложить услугу «Авторский </a:t>
            </a:r>
            <a:r>
              <a:rPr lang="ru-RU" sz="900" dirty="0" err="1"/>
              <a:t>кастом</a:t>
            </a:r>
            <a:r>
              <a:rPr lang="ru-RU" sz="900" dirty="0"/>
              <a:t>»: создание индивидуального принта или росписи на куртке/худи под заказ клиента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A6F868D-4C0E-1BD1-79C6-A73388E90DFE}"/>
              </a:ext>
            </a:extLst>
          </p:cNvPr>
          <p:cNvCxnSpPr>
            <a:cxnSpLocks/>
          </p:cNvCxnSpPr>
          <p:nvPr/>
        </p:nvCxnSpPr>
        <p:spPr>
          <a:xfrm>
            <a:off x="2830606" y="390889"/>
            <a:ext cx="0" cy="4752611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A49DC1C-371D-FE29-2944-C26E2D66722D}"/>
              </a:ext>
            </a:extLst>
          </p:cNvPr>
          <p:cNvCxnSpPr>
            <a:cxnSpLocks/>
          </p:cNvCxnSpPr>
          <p:nvPr/>
        </p:nvCxnSpPr>
        <p:spPr>
          <a:xfrm>
            <a:off x="5842747" y="390889"/>
            <a:ext cx="0" cy="4789267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1D8D1BE-5969-7A44-1BC8-25A90F454701}"/>
              </a:ext>
            </a:extLst>
          </p:cNvPr>
          <p:cNvCxnSpPr>
            <a:cxnSpLocks/>
          </p:cNvCxnSpPr>
          <p:nvPr/>
        </p:nvCxnSpPr>
        <p:spPr>
          <a:xfrm flipH="1">
            <a:off x="0" y="390889"/>
            <a:ext cx="9144002" cy="0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4969D5-109B-E2F6-0C5D-AB18FAFE613A}"/>
              </a:ext>
            </a:extLst>
          </p:cNvPr>
          <p:cNvSpPr txBox="1"/>
          <p:nvPr/>
        </p:nvSpPr>
        <p:spPr>
          <a:xfrm>
            <a:off x="2519836" y="-15747"/>
            <a:ext cx="5612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Представителей целевой аудитории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4551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19BEEF-3F6D-601B-F0C5-0F8E2F7FF6EA}"/>
              </a:ext>
            </a:extLst>
          </p:cNvPr>
          <p:cNvSpPr txBox="1"/>
          <p:nvPr/>
        </p:nvSpPr>
        <p:spPr>
          <a:xfrm>
            <a:off x="111683" y="76781"/>
            <a:ext cx="23523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1. «Твой идеальный худи со скидкой 20%!» (Ограничение по времени)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/>
              <a:t>Формулировка:</a:t>
            </a:r>
            <a:r>
              <a:rPr lang="ru-RU" sz="1200" dirty="0"/>
              <a:t> «Закажи любую вещь из новой коллекции авторских принтов до конца недели — и получи скидку 20%! Идеально для тех, кто хочет выделиться в толпе, обновить базовый гардероб или сделать крутой подарок близким. Таймер тикает!»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/>
              <a:t>Визуальный акцент:</a:t>
            </a:r>
            <a:r>
              <a:rPr lang="ru-RU" sz="1200" dirty="0"/>
              <a:t> Баннер с часами или календарем, где зачеркнута старая цена.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A953AA-2AB8-8868-6CF6-504AF1EC6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3" y="2939103"/>
            <a:ext cx="2352312" cy="154913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CDBC14-B411-C83B-6EF6-4E7788488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121" y="2939103"/>
            <a:ext cx="2413543" cy="15491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88DD01-B1C6-0594-9EB7-ED3812944F53}"/>
              </a:ext>
            </a:extLst>
          </p:cNvPr>
          <p:cNvSpPr txBox="1"/>
          <p:nvPr/>
        </p:nvSpPr>
        <p:spPr>
          <a:xfrm>
            <a:off x="2832352" y="97721"/>
            <a:ext cx="23523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200" b="0" i="0" dirty="0">
                <a:effectLst/>
                <a:latin typeface="Google Sans Flex"/>
              </a:rPr>
              <a:t>2. «Комбо-пакет: 3 футболки по цене 2-х» (Выгодный бандл)</a:t>
            </a:r>
          </a:p>
          <a:p>
            <a:pPr algn="l">
              <a:buNone/>
            </a:pPr>
            <a:r>
              <a:rPr lang="ru-RU" sz="1200" b="0" i="0" dirty="0">
                <a:effectLst/>
                <a:latin typeface="Google Sans Flex"/>
              </a:rPr>
              <a:t>Формулировка: «Собираешь капсульный гардероб или закупаешься мерчем с друзьями? Добавь в корзину 3 любые футболки с авторской графикой, а плати только за 2! Твой стиль — твои правила. Выгода до [Сумма] рублей!»</a:t>
            </a:r>
          </a:p>
          <a:p>
            <a:pPr algn="l">
              <a:buNone/>
            </a:pPr>
            <a:r>
              <a:rPr lang="ru-RU" sz="1200" b="0" i="0" dirty="0">
                <a:effectLst/>
                <a:latin typeface="Google Sans Flex"/>
              </a:rPr>
              <a:t>Визуальный акцент: Яркий стикер «АКЦИЯ 3=2» или «1+1=3» прямо на превью товаров.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553B81-0EEF-EF46-56AE-267553067D1E}"/>
              </a:ext>
            </a:extLst>
          </p:cNvPr>
          <p:cNvSpPr txBox="1"/>
          <p:nvPr/>
        </p:nvSpPr>
        <p:spPr>
          <a:xfrm>
            <a:off x="5553022" y="97721"/>
            <a:ext cx="28231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3. «Лимитированный Дроп: Эксклюзивный принт [Название]» (Редкость и ценность)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/>
              <a:t>Формулировка:</a:t>
            </a:r>
            <a:r>
              <a:rPr lang="ru-RU" sz="1200" dirty="0"/>
              <a:t> «Уникальный дизайн в стиле [например, киберпанк / темное фэнтези]. Всего 20 худи на весь мир, без повторных тиражей! Каждая вещь идет с уникальным серийным номером на бирке и открыткой от автора. Стань владельцем редкого дропа!»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/>
              <a:t>Визуальный акцент:</a:t>
            </a:r>
            <a:r>
              <a:rPr lang="ru-RU" sz="1200" dirty="0"/>
              <a:t> Крупная плашка «LIMITED EDITION» или «EXCLUSIVE», счетчик оставшегося количества (например, </a:t>
            </a:r>
            <a:r>
              <a:rPr lang="ru-RU" sz="1200" i="1" dirty="0"/>
              <a:t>«Осталось всего 4 штуки»</a:t>
            </a:r>
            <a:r>
              <a:rPr lang="ru-RU" sz="1200" dirty="0"/>
              <a:t>).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0BCBA02-7D04-37F2-2C6B-EBCC7AD97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023" y="2960043"/>
            <a:ext cx="2823162" cy="154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9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450333-6F4C-93EB-04C0-E6B3EE47C54B}"/>
              </a:ext>
            </a:extLst>
          </p:cNvPr>
          <p:cNvSpPr txBox="1"/>
          <p:nvPr/>
        </p:nvSpPr>
        <p:spPr>
          <a:xfrm>
            <a:off x="78580" y="857251"/>
            <a:ext cx="716518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1100" b="1" dirty="0"/>
              <a:t>#070D0B (базовый) — глубокий темно-зеленый (почти черный):</a:t>
            </a:r>
            <a:endParaRPr lang="ru-RU" sz="1100" dirty="0"/>
          </a:p>
          <a:p>
            <a:pPr marL="742950" lvl="1" indent="-285750">
              <a:buFont typeface="+mj-lt"/>
              <a:buAutoNum type="arabicPeriod"/>
            </a:pPr>
            <a:r>
              <a:rPr lang="ru-RU" sz="1100" i="1" dirty="0"/>
              <a:t>1. Роль:</a:t>
            </a:r>
            <a:r>
              <a:rPr lang="ru-RU" sz="1100" dirty="0"/>
              <a:t> Фон сайта, шапка, подвал.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1100" i="1" dirty="0"/>
              <a:t>2. Обоснование:</a:t>
            </a:r>
            <a:r>
              <a:rPr lang="ru-RU" sz="1100" dirty="0"/>
              <a:t> Создает премиальную, обволакивающую атмосферу «полуночной» эстетики. Служит идеальным контрастным холстом, на котором графика и текстовые манифесты выглядят выразительно и дорого.</a:t>
            </a:r>
          </a:p>
          <a:p>
            <a:pPr>
              <a:buFont typeface="+mj-lt"/>
              <a:buAutoNum type="arabicPeriod"/>
            </a:pPr>
            <a:r>
              <a:rPr lang="ru-RU" sz="1100" b="1" dirty="0"/>
              <a:t>#1BC381 (изумрудно-зеленый) — акцентный:</a:t>
            </a:r>
            <a:endParaRPr lang="ru-RU" sz="1100" dirty="0"/>
          </a:p>
          <a:p>
            <a:pPr marL="742950" lvl="1" indent="-285750">
              <a:buFont typeface="+mj-lt"/>
              <a:buAutoNum type="arabicPeriod"/>
            </a:pPr>
            <a:r>
              <a:rPr lang="ru-RU" sz="1100" i="1" dirty="0"/>
              <a:t>1. Роль:</a:t>
            </a:r>
            <a:r>
              <a:rPr lang="ru-RU" sz="1100" dirty="0"/>
              <a:t> Кнопки перехода («Смотреть Новую Коллекцию»), ключевые слова в заголовках, интерактивные элементы (</a:t>
            </a:r>
            <a:r>
              <a:rPr lang="ru-RU" sz="1100" dirty="0" err="1"/>
              <a:t>ховеры</a:t>
            </a:r>
            <a:r>
              <a:rPr lang="ru-RU" sz="1100" dirty="0"/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1100" i="1" dirty="0"/>
              <a:t>2. Обоснование:</a:t>
            </a:r>
            <a:r>
              <a:rPr lang="ru-RU" sz="1100" dirty="0"/>
              <a:t> Мощный неоновый контраст с темным фоном. Ассоциируется с технологичностью, современным урбанизмом и концептуальным искусством. Мгновенно направляет взгляд пользователя на целевые действия (CTA).</a:t>
            </a:r>
          </a:p>
          <a:p>
            <a:pPr>
              <a:buFont typeface="+mj-lt"/>
              <a:buAutoNum type="arabicPeriod"/>
            </a:pPr>
            <a:r>
              <a:rPr lang="ru-RU" sz="1100" b="1" dirty="0"/>
              <a:t>#FFFFFF (белый) — нейтральный:</a:t>
            </a:r>
            <a:endParaRPr lang="ru-RU" sz="1100" dirty="0"/>
          </a:p>
          <a:p>
            <a:pPr marL="742950" lvl="1" indent="-285750">
              <a:buFont typeface="+mj-lt"/>
              <a:buAutoNum type="arabicPeriod"/>
            </a:pPr>
            <a:r>
              <a:rPr lang="ru-RU" sz="1100" i="1" dirty="0"/>
              <a:t>1. Роль:</a:t>
            </a:r>
            <a:r>
              <a:rPr lang="ru-RU" sz="1100" dirty="0"/>
              <a:t> Основные заголовки, важные элементы интерфейса.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1100" i="1" dirty="0"/>
              <a:t>2. Обоснование:</a:t>
            </a:r>
            <a:r>
              <a:rPr lang="ru-RU" sz="1100" dirty="0"/>
              <a:t> Обеспечивает абсолютную читаемость утонченной </a:t>
            </a:r>
            <a:r>
              <a:rPr lang="ru-RU" sz="1100" dirty="0" err="1"/>
              <a:t>serif</a:t>
            </a:r>
            <a:r>
              <a:rPr lang="ru-RU" sz="1100" dirty="0"/>
              <a:t>-типографики и чистоту восприятия главного посыла бренда.</a:t>
            </a:r>
          </a:p>
          <a:p>
            <a:pPr>
              <a:buNone/>
            </a:pPr>
            <a:r>
              <a:rPr lang="ru-RU" sz="1100" b="1" dirty="0"/>
              <a:t>Дополнительные цвета:</a:t>
            </a:r>
          </a:p>
          <a:p>
            <a:pPr>
              <a:buFont typeface="+mj-lt"/>
              <a:buAutoNum type="arabicPeriod" startAt="4"/>
            </a:pPr>
            <a:r>
              <a:rPr lang="ru-RU" sz="1100" b="1" dirty="0"/>
              <a:t>#707573 (приглушенный серо-зеленый):</a:t>
            </a:r>
            <a:endParaRPr lang="ru-RU" sz="1100" dirty="0"/>
          </a:p>
          <a:p>
            <a:pPr marL="742950" lvl="1" indent="-285750">
              <a:buFont typeface="+mj-lt"/>
              <a:buAutoNum type="arabicPeriod" startAt="4"/>
            </a:pPr>
            <a:r>
              <a:rPr lang="ru-RU" sz="1100" i="1" dirty="0"/>
              <a:t>1. Роль:</a:t>
            </a:r>
            <a:r>
              <a:rPr lang="ru-RU" sz="1100" dirty="0"/>
              <a:t> Второстепенный наборный текст, дескрипторы, неактивные пункты меню.</a:t>
            </a:r>
          </a:p>
          <a:p>
            <a:pPr marL="742950" lvl="1" indent="-285750">
              <a:buFont typeface="+mj-lt"/>
              <a:buAutoNum type="arabicPeriod" startAt="4"/>
            </a:pPr>
            <a:r>
              <a:rPr lang="ru-RU" sz="1100" i="1" dirty="0"/>
              <a:t>2. Обоснование:</a:t>
            </a:r>
            <a:r>
              <a:rPr lang="ru-RU" sz="1100" dirty="0"/>
              <a:t> Снижает визуальный шум, уводя второстепенную информацию на дальний план и сохраняя общую монохромную гармонию.</a:t>
            </a:r>
          </a:p>
          <a:p>
            <a:pPr>
              <a:buFont typeface="+mj-lt"/>
              <a:buAutoNum type="arabicPeriod" startAt="4"/>
            </a:pPr>
            <a:r>
              <a:rPr lang="ru-RU" sz="1100" b="1" dirty="0"/>
              <a:t>#111A16 (темно-серый с зеленым подтоном):</a:t>
            </a:r>
            <a:endParaRPr lang="ru-RU" sz="1100" dirty="0"/>
          </a:p>
          <a:p>
            <a:pPr marL="742950" lvl="1" indent="-285750">
              <a:buFont typeface="+mj-lt"/>
              <a:buAutoNum type="arabicPeriod" startAt="4"/>
            </a:pPr>
            <a:r>
              <a:rPr lang="ru-RU" sz="1100" i="1" dirty="0"/>
              <a:t>1. Роль:</a:t>
            </a:r>
            <a:r>
              <a:rPr lang="ru-RU" sz="1100" dirty="0"/>
              <a:t> Фон плашек, карточек товаров (как «Полуночная роза») и подложек.</a:t>
            </a:r>
          </a:p>
          <a:p>
            <a:pPr marL="742950" lvl="1" indent="-285750">
              <a:buFont typeface="+mj-lt"/>
              <a:buAutoNum type="arabicPeriod" startAt="4"/>
            </a:pPr>
            <a:r>
              <a:rPr lang="ru-RU" sz="1100" i="1" dirty="0"/>
              <a:t>2. Обоснование:</a:t>
            </a:r>
            <a:r>
              <a:rPr lang="ru-RU" sz="1100" dirty="0"/>
              <a:t> Помогает визуально отделить контентные блоки и карточки от основного фона, добавляя интерфейсу многослойность и глубину без использования грубых рамок.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D53685-4900-AF46-002D-CD5E8971C6CB}"/>
              </a:ext>
            </a:extLst>
          </p:cNvPr>
          <p:cNvSpPr txBox="1"/>
          <p:nvPr/>
        </p:nvSpPr>
        <p:spPr>
          <a:xfrm>
            <a:off x="78580" y="334031"/>
            <a:ext cx="4664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b="1" dirty="0"/>
              <a:t>Цветовая палитра:</a:t>
            </a:r>
          </a:p>
          <a:p>
            <a:pPr>
              <a:buNone/>
            </a:pPr>
            <a:r>
              <a:rPr lang="ru-RU" sz="1400" b="1" dirty="0"/>
              <a:t>Основные цвета: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57CAD-97CA-0867-44A1-E24A5D35A9A2}"/>
              </a:ext>
            </a:extLst>
          </p:cNvPr>
          <p:cNvSpPr txBox="1"/>
          <p:nvPr/>
        </p:nvSpPr>
        <p:spPr>
          <a:xfrm>
            <a:off x="1768078" y="0"/>
            <a:ext cx="5950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b="1" dirty="0"/>
              <a:t>Предложить цветовое решение для сайта и обосновать его</a:t>
            </a:r>
          </a:p>
        </p:txBody>
      </p:sp>
    </p:spTree>
    <p:extLst>
      <p:ext uri="{BB962C8B-B14F-4D97-AF65-F5344CB8AC3E}">
        <p14:creationId xmlns:p14="http://schemas.microsoft.com/office/powerpoint/2010/main" val="4258746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23CFBB-3717-F5F2-11F4-A67613646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774"/>
            <a:ext cx="3076575" cy="8191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189D01D-D868-30DA-AAB3-0A8A8F38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977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1D2571-F8A0-849C-EAB5-177C72E3B52B}"/>
              </a:ext>
            </a:extLst>
          </p:cNvPr>
          <p:cNvSpPr txBox="1"/>
          <p:nvPr/>
        </p:nvSpPr>
        <p:spPr>
          <a:xfrm>
            <a:off x="3076575" y="381210"/>
            <a:ext cx="574357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b="1" dirty="0"/>
              <a:t>Обоснование выбора</a:t>
            </a:r>
          </a:p>
          <a:p>
            <a:pPr>
              <a:buNone/>
            </a:pPr>
            <a:r>
              <a:rPr lang="ru-RU" sz="1400" b="1" dirty="0"/>
              <a:t>1. Продукт (ниша):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Глубокая темная база (#070D0B)</a:t>
            </a:r>
            <a:r>
              <a:rPr lang="ru-RU" sz="1400" dirty="0"/>
              <a:t> усиливает премиальность бренда, подчеркивает концептуальную строгость и геометрию принтов, создавая ощущение «ночной» эстетики (как в дропе </a:t>
            </a:r>
            <a:r>
              <a:rPr lang="ru-RU" sz="1400" i="1" dirty="0"/>
              <a:t>«Полуночная роза»</a:t>
            </a:r>
            <a:r>
              <a:rPr lang="ru-RU" sz="1400" dirty="0"/>
              <a:t>).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Изумрудно-зеленый акцент (#1BC381)</a:t>
            </a:r>
            <a:r>
              <a:rPr lang="ru-RU" sz="1400" dirty="0"/>
              <a:t> добавляет технологичный, урбанистический штрих, что крайне важно для ниши дизайнерской уличной одежды и авторского мерча.</a:t>
            </a:r>
          </a:p>
          <a:p>
            <a:pPr>
              <a:buNone/>
            </a:pPr>
            <a:r>
              <a:rPr lang="ru-RU" sz="1400" b="1" dirty="0"/>
              <a:t>2. Целевая аудитория: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Ценители урбанизма и эстетики:</a:t>
            </a:r>
            <a:r>
              <a:rPr lang="ru-RU" sz="1400" dirty="0"/>
              <a:t> Минималистичный темный интерфейс с чистыми контрастами отвечает визуальным стандартам людей, выбирающих одежду как манифест и способ самовыражения.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Адепты концептуального стиля:</a:t>
            </a:r>
            <a:r>
              <a:rPr lang="ru-RU" sz="1400" dirty="0"/>
              <a:t> Строгое, выверенное сочетание без визуального шума и лишних «кислотных» тонов подчеркивает премиальный статус лимитированных коллекций.</a:t>
            </a:r>
          </a:p>
          <a:p>
            <a:pPr>
              <a:buNone/>
            </a:pPr>
            <a:r>
              <a:rPr lang="ru-RU" sz="1400" b="1" dirty="0"/>
              <a:t>3. Психология: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#070D0B</a:t>
            </a:r>
            <a:r>
              <a:rPr lang="ru-RU" sz="1400" dirty="0"/>
              <a:t> — ассоциируется со скрытой силой, глубиной, элегантностью и безупречным стилем.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#1BC381</a:t>
            </a:r>
            <a:r>
              <a:rPr lang="ru-RU" sz="1400" dirty="0"/>
              <a:t> — символизирует баланс, свежие идеи, прогрессивность и уникальную геометрию живой природы в городском пространстве.</a:t>
            </a:r>
          </a:p>
        </p:txBody>
      </p:sp>
    </p:spTree>
    <p:extLst>
      <p:ext uri="{BB962C8B-B14F-4D97-AF65-F5344CB8AC3E}">
        <p14:creationId xmlns:p14="http://schemas.microsoft.com/office/powerpoint/2010/main" val="298465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3C5611-FD41-1376-0EFF-3DA49EFDB3BA}"/>
              </a:ext>
            </a:extLst>
          </p:cNvPr>
          <p:cNvSpPr txBox="1"/>
          <p:nvPr/>
        </p:nvSpPr>
        <p:spPr>
          <a:xfrm>
            <a:off x="0" y="263426"/>
            <a:ext cx="739547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b="1" dirty="0"/>
              <a:t>3 рекомендации по навигации</a:t>
            </a:r>
          </a:p>
          <a:p>
            <a:pPr>
              <a:buNone/>
            </a:pPr>
            <a:r>
              <a:rPr lang="ru-RU" sz="1400" b="1" dirty="0"/>
              <a:t>1. Фиксированное верхнее меню (</a:t>
            </a:r>
            <a:r>
              <a:rPr lang="ru-RU" sz="1400" b="1" dirty="0" err="1"/>
              <a:t>Sticky</a:t>
            </a:r>
            <a:r>
              <a:rPr lang="ru-RU" sz="1400" b="1" dirty="0"/>
              <a:t> </a:t>
            </a:r>
            <a:r>
              <a:rPr lang="ru-RU" sz="1400" b="1" dirty="0" err="1"/>
              <a:t>Header</a:t>
            </a:r>
            <a:r>
              <a:rPr lang="ru-RU" sz="1400" b="1" dirty="0"/>
              <a:t>)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Логотип + основные разделы</a:t>
            </a:r>
            <a:r>
              <a:rPr lang="ru-RU" sz="1400" dirty="0"/>
              <a:t> («Главная», «Каталог», «Отзывы», «О бренде»). При </a:t>
            </a:r>
            <a:r>
              <a:rPr lang="ru-RU" sz="1400" dirty="0" err="1"/>
              <a:t>скролле</a:t>
            </a:r>
            <a:r>
              <a:rPr lang="ru-RU" sz="1400" dirty="0"/>
              <a:t> меню остается закрепленным вверху страницы для быстрого перехода.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Иконка Корзины и кнопка «Личный кабинет»</a:t>
            </a:r>
            <a:r>
              <a:rPr lang="ru-RU" sz="1400" dirty="0"/>
              <a:t> справа, выполненные в тонких линиях, обеспечивают бесшовный путь к оформлению заказа.</a:t>
            </a:r>
          </a:p>
          <a:p>
            <a:pPr>
              <a:buNone/>
            </a:pPr>
            <a:r>
              <a:rPr lang="ru-RU" sz="1400" b="1" dirty="0"/>
              <a:t>2. Гамбургер-меню для мобильных устройств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Скрытое боковое меню</a:t>
            </a:r>
            <a:r>
              <a:rPr lang="ru-RU" sz="1400" dirty="0"/>
              <a:t> с аккуратной минималистичной иконкой «☰», сохраняющей чистоту экрана на смартфонах.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Быстрый доступ ко всем разделам</a:t>
            </a:r>
            <a:r>
              <a:rPr lang="ru-RU" sz="1400" dirty="0"/>
              <a:t> сайта, корзине и контактам в один клик.</a:t>
            </a:r>
          </a:p>
          <a:p>
            <a:pPr>
              <a:buNone/>
            </a:pPr>
            <a:r>
              <a:rPr lang="ru-RU" sz="1400" b="1" dirty="0"/>
              <a:t>3. Карточки товаров с интерактивными фильтрами</a:t>
            </a:r>
          </a:p>
          <a:p>
            <a:pPr>
              <a:buFont typeface="+mj-lt"/>
              <a:buAutoNum type="arabicPeriod"/>
            </a:pPr>
            <a:r>
              <a:rPr lang="ru-RU" sz="1400" b="1" dirty="0" err="1"/>
              <a:t>Hover</a:t>
            </a:r>
            <a:r>
              <a:rPr lang="ru-RU" sz="1400" b="1" dirty="0"/>
              <a:t>-эффект на карточках</a:t>
            </a:r>
            <a:r>
              <a:rPr lang="ru-RU" sz="1400" dirty="0"/>
              <a:t> (при наведении плашка с названием коллекции, например </a:t>
            </a:r>
            <a:r>
              <a:rPr lang="ru-RU" sz="1400" i="1" dirty="0"/>
              <a:t>«Премиум»</a:t>
            </a:r>
            <a:r>
              <a:rPr lang="ru-RU" sz="1400" dirty="0"/>
              <a:t>, или кнопка </a:t>
            </a:r>
            <a:r>
              <a:rPr lang="ru-RU" sz="1400" i="1" dirty="0"/>
              <a:t>«Смотреть»</a:t>
            </a:r>
            <a:r>
              <a:rPr lang="ru-RU" sz="1400" dirty="0"/>
              <a:t> подсвечивается фирменным изумрудно-зеленым цветом </a:t>
            </a:r>
            <a:r>
              <a:rPr lang="ru-RU" sz="1400" dirty="0">
                <a:latin typeface="Courier New" panose="02070309020205020404" pitchFamily="49" charset="0"/>
              </a:rPr>
              <a:t>#1BC381</a:t>
            </a:r>
            <a:r>
              <a:rPr lang="ru-RU" sz="1400" dirty="0"/>
              <a:t>).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Кнопки-фильтры в каталоге</a:t>
            </a:r>
            <a:r>
              <a:rPr lang="ru-RU" sz="1400" dirty="0"/>
              <a:t> для удобной сортировки вещей по категориям (например, </a:t>
            </a:r>
            <a:r>
              <a:rPr lang="ru-RU" sz="1400" i="1" dirty="0"/>
              <a:t>«Худи»</a:t>
            </a:r>
            <a:r>
              <a:rPr lang="ru-RU" sz="1400" dirty="0"/>
              <a:t>, </a:t>
            </a:r>
            <a:r>
              <a:rPr lang="ru-RU" sz="1400" i="1" dirty="0"/>
              <a:t>«Футболки»</a:t>
            </a:r>
            <a:r>
              <a:rPr lang="ru-RU" sz="1400" dirty="0"/>
              <a:t>, </a:t>
            </a:r>
            <a:r>
              <a:rPr lang="ru-RU" sz="1400" i="1" dirty="0"/>
              <a:t>«Аксессуары»</a:t>
            </a:r>
            <a:r>
              <a:rPr lang="ru-RU" sz="1400" dirty="0"/>
              <a:t>).</a:t>
            </a:r>
          </a:p>
          <a:p>
            <a:pPr>
              <a:buNone/>
            </a:pPr>
            <a:r>
              <a:rPr lang="ru-RU" sz="1400" b="1" dirty="0"/>
              <a:t>Дополнительно: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Кнопка «Наверх»</a:t>
            </a:r>
            <a:r>
              <a:rPr lang="ru-RU" sz="1400" dirty="0"/>
              <a:t> в углу экрана, оформленная в виде лаконичной стрелки в круглом изумрудном или темном контуре.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/>
              <a:t>В подвале (футере)</a:t>
            </a:r>
            <a:r>
              <a:rPr lang="ru-RU" sz="1400" dirty="0"/>
              <a:t> — карта сайта, ссылки на пользовательское соглашение, условия доставки и социальные сети бренда.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F1B42-E8BE-8A7D-77BB-F750F12E0DD9}"/>
              </a:ext>
            </a:extLst>
          </p:cNvPr>
          <p:cNvSpPr txBox="1"/>
          <p:nvPr/>
        </p:nvSpPr>
        <p:spPr>
          <a:xfrm>
            <a:off x="2221434" y="0"/>
            <a:ext cx="4582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рекомендации по навигации</a:t>
            </a:r>
          </a:p>
        </p:txBody>
      </p:sp>
    </p:spTree>
    <p:extLst>
      <p:ext uri="{BB962C8B-B14F-4D97-AF65-F5344CB8AC3E}">
        <p14:creationId xmlns:p14="http://schemas.microsoft.com/office/powerpoint/2010/main" val="130886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420294-3B0E-2CCF-4776-81C799115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6921"/>
            <a:ext cx="9144000" cy="36096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E86DE4-2AF6-898F-399A-D7BEE2A63CD4}"/>
              </a:ext>
            </a:extLst>
          </p:cNvPr>
          <p:cNvSpPr txBox="1"/>
          <p:nvPr/>
        </p:nvSpPr>
        <p:spPr>
          <a:xfrm>
            <a:off x="2671763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effectLst/>
                <a:latin typeface="Inter"/>
              </a:rPr>
              <a:t>Индивидуальные Заказы</a:t>
            </a:r>
          </a:p>
        </p:txBody>
      </p:sp>
    </p:spTree>
    <p:extLst>
      <p:ext uri="{BB962C8B-B14F-4D97-AF65-F5344CB8AC3E}">
        <p14:creationId xmlns:p14="http://schemas.microsoft.com/office/powerpoint/2010/main" val="1272937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9E727B-5EF0-C2DE-EE90-C5226A414E50}"/>
              </a:ext>
            </a:extLst>
          </p:cNvPr>
          <p:cNvSpPr txBox="1"/>
          <p:nvPr/>
        </p:nvSpPr>
        <p:spPr>
          <a:xfrm>
            <a:off x="205914" y="458147"/>
            <a:ext cx="5943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200" b="1" dirty="0"/>
              <a:t>1. Кнопка «Смотреть коллекцию» / «В корзину»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Где:</a:t>
            </a:r>
            <a:r>
              <a:rPr lang="ru-RU" sz="1200" dirty="0"/>
              <a:t> Фиксированная круглая кнопка со стрелкой на главном экране; стандартные кнопки в карточках каталога.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Дизайн:</a:t>
            </a:r>
            <a:r>
              <a:rPr lang="ru-RU" sz="1200" dirty="0"/>
              <a:t> Контрастный изумрудно-зеленый цвет (</a:t>
            </a:r>
            <a:r>
              <a:rPr lang="ru-RU" sz="1200" dirty="0">
                <a:latin typeface="Courier New" panose="02070309020205020404" pitchFamily="49" charset="0"/>
              </a:rPr>
              <a:t>#1BC381</a:t>
            </a:r>
            <a:r>
              <a:rPr lang="ru-RU" sz="1200" dirty="0"/>
              <a:t>), плавная анимация увеличения или изменения прозрачности при наведении (</a:t>
            </a:r>
            <a:r>
              <a:rPr lang="ru-RU" sz="1200" dirty="0" err="1"/>
              <a:t>ховер</a:t>
            </a:r>
            <a:r>
              <a:rPr lang="ru-RU" sz="1200" dirty="0"/>
              <a:t>-эффект).</a:t>
            </a:r>
          </a:p>
          <a:p>
            <a:pPr>
              <a:buNone/>
            </a:pPr>
            <a:r>
              <a:rPr lang="ru-RU" sz="1200" b="1" dirty="0"/>
              <a:t>2. Форма быстрого оформления заказа (Quick </a:t>
            </a:r>
            <a:r>
              <a:rPr lang="ru-RU" sz="1200" b="1" dirty="0" err="1"/>
              <a:t>Checkout</a:t>
            </a:r>
            <a:r>
              <a:rPr lang="ru-RU" sz="1200" b="1" dirty="0"/>
              <a:t>)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Где:</a:t>
            </a:r>
            <a:r>
              <a:rPr lang="ru-RU" sz="1200" dirty="0"/>
              <a:t> Боковой поп-ап (слайд-ин) справа при клике на иконку корзины.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Что включает:</a:t>
            </a:r>
            <a:r>
              <a:rPr lang="ru-RU" sz="1200" dirty="0"/>
              <a:t> Минимальное количество полей для покупки в один клик: «Телефон/</a:t>
            </a:r>
            <a:r>
              <a:rPr lang="ru-RU" sz="1200" dirty="0" err="1"/>
              <a:t>Email</a:t>
            </a:r>
            <a:r>
              <a:rPr lang="ru-RU" sz="1200" dirty="0"/>
              <a:t>», «Способ доставки», «Выбор размера». Никаких лишних шагов для сохранения высокой конверсии.</a:t>
            </a:r>
          </a:p>
          <a:p>
            <a:pPr>
              <a:buNone/>
            </a:pPr>
            <a:r>
              <a:rPr lang="ru-RU" sz="1200" b="1" dirty="0"/>
              <a:t>3. Чат-виджет поддержки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Где:</a:t>
            </a:r>
            <a:r>
              <a:rPr lang="ru-RU" sz="1200" dirty="0"/>
              <a:t> Правый нижний угол экрана, лаконичная иконка мессенджера (</a:t>
            </a:r>
            <a:r>
              <a:rPr lang="ru-RU" sz="1200" dirty="0" err="1"/>
              <a:t>Telegram</a:t>
            </a:r>
            <a:r>
              <a:rPr lang="ru-RU" sz="1200" dirty="0"/>
              <a:t>).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Фича:</a:t>
            </a:r>
            <a:r>
              <a:rPr lang="ru-RU" sz="1200" dirty="0"/>
              <a:t> Автосообщение в стиле бренда: </a:t>
            </a:r>
            <a:r>
              <a:rPr lang="ru-RU" sz="1200" i="1" dirty="0"/>
              <a:t>«Нужна помощь с подбором размера лимитированного худи? Напишите нам, мы на связи»</a:t>
            </a:r>
            <a:r>
              <a:rPr lang="ru-RU" sz="1200" dirty="0"/>
              <a:t>.</a:t>
            </a:r>
          </a:p>
          <a:p>
            <a:pPr>
              <a:buNone/>
            </a:pPr>
            <a:r>
              <a:rPr lang="ru-RU" sz="1200" b="1" dirty="0"/>
              <a:t>4. Блок «Лимитированные дропы» (Эксклюзив)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Где:</a:t>
            </a:r>
            <a:r>
              <a:rPr lang="ru-RU" sz="1200" dirty="0"/>
              <a:t> По центру главной страницы, сразу под приветственным баннером.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Формат:</a:t>
            </a:r>
            <a:r>
              <a:rPr lang="ru-RU" sz="1200" dirty="0"/>
              <a:t> Живой счетчик оставшегося товара (например, </a:t>
            </a:r>
            <a:r>
              <a:rPr lang="ru-RU" sz="1200" i="1" dirty="0"/>
              <a:t>«Осталось: 4 шт. из 20»</a:t>
            </a:r>
            <a:r>
              <a:rPr lang="ru-RU" sz="1200" dirty="0"/>
              <a:t>) и текстовый триггер дефицита для стимулирования импульсивных покупок.</a:t>
            </a:r>
          </a:p>
          <a:p>
            <a:pPr>
              <a:buNone/>
            </a:pPr>
            <a:r>
              <a:rPr lang="ru-RU" sz="1200" b="1" dirty="0"/>
              <a:t>5. Отзывы клиентов (Социальное доказательство)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Где:</a:t>
            </a:r>
            <a:r>
              <a:rPr lang="ru-RU" sz="1200" dirty="0"/>
              <a:t> Отдельный горизонтальный блок-карусель перед подвалом сайта.</a:t>
            </a:r>
          </a:p>
          <a:p>
            <a:pPr>
              <a:buFont typeface="+mj-lt"/>
              <a:buAutoNum type="arabicPeriod"/>
            </a:pPr>
            <a:r>
              <a:rPr lang="ru-RU" sz="1200" i="1" dirty="0"/>
              <a:t>Фича:</a:t>
            </a:r>
            <a:r>
              <a:rPr lang="ru-RU" sz="1200" dirty="0"/>
              <a:t> Реальные фотографии покупателей в вашем мерче из соцсетей + кнопка </a:t>
            </a:r>
            <a:r>
              <a:rPr lang="ru-RU" sz="1200" i="1" dirty="0"/>
              <a:t>«Хочу такой же стиль»</a:t>
            </a:r>
            <a:r>
              <a:rPr lang="ru-RU" sz="1200" dirty="0"/>
              <a:t>, ведущая сразу на страницу соответствующего товара.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499BB-26C2-FAF9-C653-81BD145E3823}"/>
              </a:ext>
            </a:extLst>
          </p:cNvPr>
          <p:cNvSpPr txBox="1"/>
          <p:nvPr/>
        </p:nvSpPr>
        <p:spPr>
          <a:xfrm>
            <a:off x="1731078" y="888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b="1" dirty="0"/>
              <a:t>Основные конверсионные элементы</a:t>
            </a:r>
          </a:p>
        </p:txBody>
      </p:sp>
    </p:spTree>
    <p:extLst>
      <p:ext uri="{BB962C8B-B14F-4D97-AF65-F5344CB8AC3E}">
        <p14:creationId xmlns:p14="http://schemas.microsoft.com/office/powerpoint/2010/main" val="3124551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0DFA7F-2E0A-305D-65DE-A9AA825C0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"/>
            <a:ext cx="9144000" cy="51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90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8DBE27-3F6C-9484-1CA9-58A24B5B40CC}"/>
              </a:ext>
            </a:extLst>
          </p:cNvPr>
          <p:cNvSpPr txBox="1"/>
          <p:nvPr/>
        </p:nvSpPr>
        <p:spPr>
          <a:xfrm>
            <a:off x="0" y="278590"/>
            <a:ext cx="9144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1. Цели продвижения</a:t>
            </a:r>
            <a:endParaRPr lang="ru-RU" sz="1100" b="1" dirty="0">
              <a:effectLst/>
              <a:latin typeface="Google Sans"/>
            </a:endParaRP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1. Информирование</a:t>
            </a:r>
            <a:endParaRPr lang="ru-RU" sz="1100" b="1" dirty="0">
              <a:effectLst/>
              <a:latin typeface="Google Sans"/>
            </a:endParaRPr>
          </a:p>
          <a:p>
            <a:pPr>
              <a:buFont typeface="+mj-lt"/>
              <a:buAutoNum type="arabicPeriod"/>
            </a:pPr>
            <a:r>
              <a:rPr lang="ru-RU" sz="1100" dirty="0">
                <a:effectLst/>
                <a:latin typeface="Google Sans Text"/>
              </a:rPr>
              <a:t>Познакомить целевую аудиторию с концепцией «одежда как манифест» и качеством принтов.</a:t>
            </a: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2. Стимулирование спроса</a:t>
            </a:r>
            <a:endParaRPr lang="ru-RU" sz="1100" b="1" dirty="0">
              <a:effectLst/>
              <a:latin typeface="Google Sans"/>
            </a:endParaRPr>
          </a:p>
          <a:p>
            <a:pPr>
              <a:buFont typeface="+mj-lt"/>
              <a:buAutoNum type="arabicPeriod"/>
            </a:pPr>
            <a:r>
              <a:rPr lang="ru-RU" sz="1100" dirty="0">
                <a:effectLst/>
                <a:latin typeface="Google Sans Text"/>
              </a:rPr>
              <a:t>Увеличить количество онлайн-продаж худи и футболок через социальные сети и сайт.</a:t>
            </a: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3. Формирование лояльности</a:t>
            </a:r>
            <a:endParaRPr lang="ru-RU" sz="1100" b="1" dirty="0">
              <a:effectLst/>
              <a:latin typeface="Google Sans"/>
            </a:endParaRPr>
          </a:p>
          <a:p>
            <a:pPr>
              <a:buFont typeface="+mj-lt"/>
              <a:buAutoNum type="arabicPeriod"/>
            </a:pPr>
            <a:r>
              <a:rPr lang="ru-RU" sz="1100" dirty="0">
                <a:effectLst/>
                <a:latin typeface="Google Sans Text"/>
              </a:rPr>
              <a:t>Создать комьюнити вокруг уличной моды, геометрии и концептуального дизайна бренда.</a:t>
            </a: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Ключевые метрики успеха</a:t>
            </a:r>
            <a:endParaRPr lang="ru-RU" sz="1100" b="1" dirty="0">
              <a:effectLst/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  <a:latin typeface="Google Sans Text"/>
              </a:rPr>
              <a:t>+20% подписчиков за 3 месяца.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  <a:latin typeface="Google Sans Text"/>
              </a:rPr>
              <a:t>15+ заказов в месяц из соцсетей.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  <a:latin typeface="Google Sans Text"/>
              </a:rPr>
              <a:t>100+ лайков/сохранений на пост (</a:t>
            </a:r>
            <a:r>
              <a:rPr lang="ru-RU" sz="1100" dirty="0" err="1">
                <a:effectLst/>
                <a:latin typeface="Google Sans Text"/>
              </a:rPr>
              <a:t>Engagement</a:t>
            </a:r>
            <a:r>
              <a:rPr lang="ru-RU" sz="1100" dirty="0">
                <a:effectLst/>
                <a:latin typeface="Google Sans Text"/>
              </a:rPr>
              <a:t> Rate $\</a:t>
            </a:r>
            <a:r>
              <a:rPr lang="ru-RU" sz="1100" dirty="0" err="1">
                <a:effectLst/>
                <a:latin typeface="Google Sans Text"/>
              </a:rPr>
              <a:t>ge</a:t>
            </a:r>
            <a:r>
              <a:rPr lang="ru-RU" sz="1100" dirty="0">
                <a:effectLst/>
                <a:latin typeface="Google Sans Text"/>
              </a:rPr>
              <a:t>$ 5%).</a:t>
            </a: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2. Модели поведения аудитории</a:t>
            </a:r>
            <a:endParaRPr lang="ru-RU" sz="1100" b="1" dirty="0">
              <a:effectLst/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dirty="0">
                <a:effectLst/>
                <a:latin typeface="Google Sans Text"/>
              </a:rPr>
              <a:t>Ценители урбанизма:</a:t>
            </a:r>
            <a:r>
              <a:rPr lang="ru-RU" sz="1100" dirty="0">
                <a:effectLst/>
                <a:latin typeface="Google Sans Text"/>
              </a:rPr>
              <a:t> Ищут уникальный оверсайз-мерч через эстетичные хэштеги (#streetwear, #conceptart).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dirty="0">
                <a:effectLst/>
                <a:latin typeface="Google Sans Text"/>
              </a:rPr>
              <a:t>Стильные минималисты:</a:t>
            </a:r>
            <a:r>
              <a:rPr lang="ru-RU" sz="1100" dirty="0">
                <a:effectLst/>
                <a:latin typeface="Google Sans Text"/>
              </a:rPr>
              <a:t> Сравнивают крой, состав ткани и качество печати перед покупкой.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dirty="0">
                <a:effectLst/>
                <a:latin typeface="Google Sans Text"/>
              </a:rPr>
              <a:t>Коллекционеры дропов:</a:t>
            </a:r>
            <a:r>
              <a:rPr lang="ru-RU" sz="1100" dirty="0">
                <a:effectLst/>
                <a:latin typeface="Google Sans Text"/>
              </a:rPr>
              <a:t> Ориентируются на строгий дефицит, эксклюзивность графики и серийные номера.</a:t>
            </a: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Как влиять:</a:t>
            </a:r>
            <a:endParaRPr lang="ru-RU" sz="1100" b="1" dirty="0">
              <a:effectLst/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dirty="0">
                <a:effectLst/>
                <a:latin typeface="Google Sans Text"/>
              </a:rPr>
              <a:t>Для урбанистов:</a:t>
            </a:r>
            <a:r>
              <a:rPr lang="ru-RU" sz="1100" dirty="0">
                <a:effectLst/>
                <a:latin typeface="Google Sans Text"/>
              </a:rPr>
              <a:t> Видео-</a:t>
            </a:r>
            <a:r>
              <a:rPr lang="ru-RU" sz="1100" dirty="0" err="1">
                <a:effectLst/>
                <a:latin typeface="Google Sans Text"/>
              </a:rPr>
              <a:t>лубуки</a:t>
            </a:r>
            <a:r>
              <a:rPr lang="ru-RU" sz="1100" dirty="0">
                <a:effectLst/>
                <a:latin typeface="Google Sans Text"/>
              </a:rPr>
              <a:t> (</a:t>
            </a:r>
            <a:r>
              <a:rPr lang="ru-RU" sz="1100" dirty="0" err="1">
                <a:effectLst/>
                <a:latin typeface="Google Sans Text"/>
              </a:rPr>
              <a:t>Reels</a:t>
            </a:r>
            <a:r>
              <a:rPr lang="ru-RU" sz="1100" dirty="0">
                <a:effectLst/>
                <a:latin typeface="Google Sans Text"/>
              </a:rPr>
              <a:t>/</a:t>
            </a:r>
            <a:r>
              <a:rPr lang="ru-RU" sz="1100" dirty="0" err="1">
                <a:effectLst/>
                <a:latin typeface="Google Sans Text"/>
              </a:rPr>
              <a:t>Shorts</a:t>
            </a:r>
            <a:r>
              <a:rPr lang="ru-RU" sz="1100" dirty="0">
                <a:effectLst/>
                <a:latin typeface="Google Sans Text"/>
              </a:rPr>
              <a:t>) с демонстрацией одежды в городской среде и эффектом текстуры ткани.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dirty="0">
                <a:effectLst/>
                <a:latin typeface="Google Sans Text"/>
              </a:rPr>
              <a:t>Для минималистов:</a:t>
            </a:r>
            <a:r>
              <a:rPr lang="ru-RU" sz="1100" dirty="0">
                <a:effectLst/>
                <a:latin typeface="Google Sans Text"/>
              </a:rPr>
              <a:t> Бэкстейджи производства, детальные обзоры швов, качества принтов и разборы концепции геометрии.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dirty="0">
                <a:effectLst/>
                <a:latin typeface="Google Sans Text"/>
              </a:rPr>
              <a:t>Для коллекционеров:</a:t>
            </a:r>
            <a:r>
              <a:rPr lang="ru-RU" sz="1100" dirty="0">
                <a:effectLst/>
                <a:latin typeface="Google Sans Text"/>
              </a:rPr>
              <a:t> Анонсы закрытых предпродаж и счетчики лимитированных линеек (</a:t>
            </a:r>
            <a:r>
              <a:rPr lang="ru-RU" sz="1100" i="1" dirty="0">
                <a:effectLst/>
                <a:latin typeface="Google Sans Text"/>
              </a:rPr>
              <a:t>«Всего 20 штук на мир»</a:t>
            </a:r>
            <a:r>
              <a:rPr lang="ru-RU" sz="1100" dirty="0">
                <a:effectLst/>
                <a:latin typeface="Google Sans Text"/>
              </a:rPr>
              <a:t>).</a:t>
            </a: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3. Соцсети для продвижения</a:t>
            </a:r>
            <a:endParaRPr lang="ru-RU" sz="1100" b="1" dirty="0">
              <a:effectLst/>
              <a:latin typeface="Google Sans"/>
            </a:endParaRP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1. Instagram</a:t>
            </a:r>
            <a:endParaRPr lang="ru-RU" sz="1100" b="1" dirty="0">
              <a:effectLst/>
              <a:latin typeface="Google Sans"/>
            </a:endParaRPr>
          </a:p>
          <a:p>
            <a:pPr>
              <a:buFont typeface="+mj-lt"/>
              <a:buAutoNum type="arabicPeriod"/>
            </a:pPr>
            <a:r>
              <a:rPr lang="ru-RU" sz="1100" i="1" dirty="0">
                <a:effectLst/>
                <a:latin typeface="Google Sans Text"/>
              </a:rPr>
              <a:t>Почему:</a:t>
            </a:r>
            <a:r>
              <a:rPr lang="ru-RU" sz="1100" dirty="0">
                <a:effectLst/>
                <a:latin typeface="Google Sans Text"/>
              </a:rPr>
              <a:t> Главная визуальная платформа + </a:t>
            </a:r>
            <a:r>
              <a:rPr lang="ru-RU" sz="1100" dirty="0" err="1">
                <a:effectLst/>
                <a:latin typeface="Google Sans Text"/>
              </a:rPr>
              <a:t>Reels</a:t>
            </a:r>
            <a:r>
              <a:rPr lang="ru-RU" sz="1100" dirty="0">
                <a:effectLst/>
                <a:latin typeface="Google Sans Text"/>
              </a:rPr>
              <a:t> с эстетикой бренда для привлечения органического трафика.</a:t>
            </a: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2. </a:t>
            </a:r>
            <a:r>
              <a:rPr lang="ru-RU" sz="1100" b="1" dirty="0" err="1">
                <a:effectLst/>
                <a:latin typeface="Google Sans Text"/>
              </a:rPr>
              <a:t>Telegram</a:t>
            </a:r>
            <a:endParaRPr lang="ru-RU" sz="1100" b="1" dirty="0">
              <a:effectLst/>
              <a:latin typeface="Google Sans"/>
            </a:endParaRPr>
          </a:p>
          <a:p>
            <a:pPr>
              <a:buFont typeface="+mj-lt"/>
              <a:buAutoNum type="arabicPeriod"/>
            </a:pPr>
            <a:r>
              <a:rPr lang="ru-RU" sz="1100" i="1" dirty="0">
                <a:effectLst/>
                <a:latin typeface="Google Sans Text"/>
              </a:rPr>
              <a:t>Почему:</a:t>
            </a:r>
            <a:r>
              <a:rPr lang="ru-RU" sz="1100" dirty="0">
                <a:effectLst/>
                <a:latin typeface="Google Sans Text"/>
              </a:rPr>
              <a:t> Чат-комьюнити для самых лояльных, публикация скрытых промокодов и анонсы ограниченных дропов.</a:t>
            </a:r>
          </a:p>
          <a:p>
            <a:pPr>
              <a:buNone/>
            </a:pPr>
            <a:r>
              <a:rPr lang="ru-RU" sz="1100" b="1" dirty="0">
                <a:effectLst/>
                <a:latin typeface="Google Sans Text"/>
              </a:rPr>
              <a:t>3. </a:t>
            </a:r>
            <a:r>
              <a:rPr lang="ru-RU" sz="1100" b="1" dirty="0" err="1">
                <a:effectLst/>
                <a:latin typeface="Google Sans Text"/>
              </a:rPr>
              <a:t>Pinterest</a:t>
            </a:r>
            <a:r>
              <a:rPr lang="ru-RU" sz="1100" b="1" dirty="0">
                <a:effectLst/>
                <a:latin typeface="Google Sans Text"/>
              </a:rPr>
              <a:t> / TikTok</a:t>
            </a:r>
            <a:endParaRPr lang="ru-RU" sz="1100" b="1" dirty="0">
              <a:effectLst/>
              <a:latin typeface="Google Sans"/>
            </a:endParaRPr>
          </a:p>
          <a:p>
            <a:pPr>
              <a:buFont typeface="+mj-lt"/>
              <a:buAutoNum type="arabicPeriod"/>
            </a:pPr>
            <a:r>
              <a:rPr lang="ru-RU" sz="1100" i="1" dirty="0">
                <a:effectLst/>
                <a:latin typeface="Google Sans Text"/>
              </a:rPr>
              <a:t>Почему:</a:t>
            </a:r>
            <a:r>
              <a:rPr lang="ru-RU" sz="1100" dirty="0">
                <a:effectLst/>
                <a:latin typeface="Google Sans Text"/>
              </a:rPr>
              <a:t> Идеальные площадки для вирусных карточек эстетичных луков и коротких атмосферных видео под концептуальную музыку.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13774D-A763-1905-E7EF-A740F9C51818}"/>
              </a:ext>
            </a:extLst>
          </p:cNvPr>
          <p:cNvSpPr txBox="1"/>
          <p:nvPr/>
        </p:nvSpPr>
        <p:spPr>
          <a:xfrm>
            <a:off x="2614067" y="-907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продвижения</a:t>
            </a:r>
            <a:endParaRPr lang="ru-RU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29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BFFD09D-E838-6C23-E575-A3F7B89ED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09555"/>
              </p:ext>
            </p:extLst>
          </p:nvPr>
        </p:nvGraphicFramePr>
        <p:xfrm>
          <a:off x="0" y="621233"/>
          <a:ext cx="9144000" cy="4640936"/>
        </p:xfrm>
        <a:graphic>
          <a:graphicData uri="http://schemas.openxmlformats.org/drawingml/2006/table">
            <a:tbl>
              <a:tblPr/>
              <a:tblGrid>
                <a:gridCol w="1259862">
                  <a:extLst>
                    <a:ext uri="{9D8B030D-6E8A-4147-A177-3AD203B41FA5}">
                      <a16:colId xmlns:a16="http://schemas.microsoft.com/office/drawing/2014/main" val="4270329599"/>
                    </a:ext>
                  </a:extLst>
                </a:gridCol>
                <a:gridCol w="5259425">
                  <a:extLst>
                    <a:ext uri="{9D8B030D-6E8A-4147-A177-3AD203B41FA5}">
                      <a16:colId xmlns:a16="http://schemas.microsoft.com/office/drawing/2014/main" val="710994505"/>
                    </a:ext>
                  </a:extLst>
                </a:gridCol>
                <a:gridCol w="2624713">
                  <a:extLst>
                    <a:ext uri="{9D8B030D-6E8A-4147-A177-3AD203B41FA5}">
                      <a16:colId xmlns:a16="http://schemas.microsoft.com/office/drawing/2014/main" val="3043063695"/>
                    </a:ext>
                  </a:extLst>
                </a:gridCol>
              </a:tblGrid>
              <a:tr h="392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900" b="1" i="0" u="none" strike="noStrike">
                          <a:solidFill>
                            <a:srgbClr val="FFFFFF"/>
                          </a:solidFill>
                          <a:effectLst/>
                          <a:latin typeface="Georgia" panose="02040502050405020303" pitchFamily="18" charset="0"/>
                        </a:rPr>
                        <a:t>Дата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D0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1" i="0" u="none" strike="noStrike">
                          <a:solidFill>
                            <a:srgbClr val="FFFFFF"/>
                          </a:solidFill>
                          <a:effectLst/>
                          <a:latin typeface="Georgia" panose="02040502050405020303" pitchFamily="18" charset="0"/>
                        </a:rPr>
                        <a:t>Тема поста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D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900" b="1" i="0" u="none" strike="noStrike">
                          <a:solidFill>
                            <a:srgbClr val="FFFFFF"/>
                          </a:solidFill>
                          <a:effectLst/>
                          <a:latin typeface="Georgia" panose="02040502050405020303" pitchFamily="18" charset="0"/>
                        </a:rPr>
                        <a:t>Платформы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D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29564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2A65CC"/>
                          </a:solidFill>
                          <a:effectLst/>
                          <a:latin typeface="Arial" panose="020B0604020202020204" pitchFamily="34" charset="0"/>
                        </a:rPr>
                        <a:t>01.06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Поэзия геометрии. Манифест бренда.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Instagram, Telegram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865745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128A5B"/>
                          </a:solidFill>
                          <a:effectLst/>
                          <a:latin typeface="Arial" panose="020B0604020202020204" pitchFamily="34" charset="0"/>
                        </a:rPr>
                        <a:t>02.06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Создание принтов. Бэкстейдж из студии.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Instagram, TikTok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175748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D99100"/>
                          </a:solidFill>
                          <a:effectLst/>
                          <a:latin typeface="Arial" panose="020B0604020202020204" pitchFamily="34" charset="0"/>
                        </a:rPr>
                        <a:t>03.06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Худи: –20%. Ограниченное предложение.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Все соцсети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760414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2A65CC"/>
                          </a:solidFill>
                          <a:effectLst/>
                          <a:latin typeface="Arial" panose="020B0604020202020204" pitchFamily="34" charset="0"/>
                        </a:rPr>
                        <a:t>04.06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Твой выбор. Голосование за новый концепт.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Telegram, Instagram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284525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128A5B"/>
                          </a:solidFill>
                          <a:effectLst/>
                          <a:latin typeface="Arial" panose="020B0604020202020204" pitchFamily="34" charset="0"/>
                        </a:rPr>
                        <a:t>05.06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Урбанизм. Эстетичный стритвир-лукбук.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Pinterest, Instagram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879338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2A65CC"/>
                          </a:solidFill>
                          <a:effectLst/>
                          <a:latin typeface="Arial" panose="020B0604020202020204" pitchFamily="34" charset="0"/>
                        </a:rPr>
                        <a:t>06.06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Конкурс. Придумай лучший слоган.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VK, Instagram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660761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128A5B"/>
                          </a:solidFill>
                          <a:effectLst/>
                          <a:latin typeface="Arial" panose="020B0604020202020204" pitchFamily="34" charset="0"/>
                        </a:rPr>
                        <a:t>07.06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Анатомия качества. Детали производства.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Instagram Stories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98113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2A65CC"/>
                          </a:solidFill>
                          <a:effectLst/>
                          <a:latin typeface="Arial" panose="020B0604020202020204" pitchFamily="34" charset="0"/>
                        </a:rPr>
                        <a:t>08.06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Вы в PRINT POETRY. Фото подписчиков.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Instagram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558383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D99100"/>
                          </a:solidFill>
                          <a:effectLst/>
                          <a:latin typeface="Arial" panose="020B0604020202020204" pitchFamily="34" charset="0"/>
                        </a:rPr>
                        <a:t>09.06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Комбо 3=2. Капсула из футболок.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Все соцсети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784694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128A5B"/>
                          </a:solidFill>
                          <a:effectLst/>
                          <a:latin typeface="Arial" panose="020B0604020202020204" pitchFamily="34" charset="0"/>
                        </a:rPr>
                        <a:t>10.06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Дроп недели. Футболка с серийным номером.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Instagram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0733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2A65CC"/>
                          </a:solidFill>
                          <a:effectLst/>
                          <a:latin typeface="Arial" panose="020B0604020202020204" pitchFamily="34" charset="0"/>
                        </a:rPr>
                        <a:t>11.06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Оверсайз vs Классика. Разбор посадки.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Instagram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072632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D99100"/>
                          </a:solidFill>
                          <a:effectLst/>
                          <a:latin typeface="Arial" panose="020B0604020202020204" pitchFamily="34" charset="0"/>
                        </a:rPr>
                        <a:t>12.06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Эксклюзив. Лимитированный худи (20 шт).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Telegram, Все соцсети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713335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128A5B"/>
                          </a:solidFill>
                          <a:effectLst/>
                          <a:latin typeface="Arial" panose="020B0604020202020204" pitchFamily="34" charset="0"/>
                        </a:rPr>
                        <a:t>13.06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Выбор стилиста. Видео-обзор бренда.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Instagram, TikTok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941123"/>
                  </a:ext>
                </a:extLst>
              </a:tr>
              <a:tr h="303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1" i="0" u="none" strike="noStrike">
                          <a:solidFill>
                            <a:srgbClr val="2A65CC"/>
                          </a:solidFill>
                          <a:effectLst/>
                          <a:latin typeface="Arial" panose="020B0604020202020204" pitchFamily="34" charset="0"/>
                        </a:rPr>
                        <a:t>14.06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Итоги. Финал конкурса и мемы про стиль.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Все соцсети</a:t>
                      </a:r>
                    </a:p>
                  </a:txBody>
                  <a:tcPr marL="7364" marR="7364" marT="7364" marB="0" anchor="ctr">
                    <a:lnL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861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1BFE7D-2AAE-9DF8-0539-96311F74AF3F}"/>
              </a:ext>
            </a:extLst>
          </p:cNvPr>
          <p:cNvSpPr txBox="1"/>
          <p:nvPr/>
        </p:nvSpPr>
        <p:spPr>
          <a:xfrm>
            <a:off x="0" y="5679"/>
            <a:ext cx="3455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Зеленый — Продукт, Эстетика и Качество.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B4BB9E-1068-BCDD-D296-588F75FC4FF9}"/>
              </a:ext>
            </a:extLst>
          </p:cNvPr>
          <p:cNvSpPr txBox="1"/>
          <p:nvPr/>
        </p:nvSpPr>
        <p:spPr>
          <a:xfrm>
            <a:off x="3472624" y="0"/>
            <a:ext cx="3221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Синий— Вовлечение и Комьюнити.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0851B-81E5-2870-0581-031C90C2DEE4}"/>
              </a:ext>
            </a:extLst>
          </p:cNvPr>
          <p:cNvSpPr txBox="1"/>
          <p:nvPr/>
        </p:nvSpPr>
        <p:spPr>
          <a:xfrm>
            <a:off x="-17450" y="313456"/>
            <a:ext cx="4589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Оранжевый— Выгода, Срочность и Дропы.</a:t>
            </a:r>
          </a:p>
        </p:txBody>
      </p:sp>
    </p:spTree>
    <p:extLst>
      <p:ext uri="{BB962C8B-B14F-4D97-AF65-F5344CB8AC3E}">
        <p14:creationId xmlns:p14="http://schemas.microsoft.com/office/powerpoint/2010/main" val="2145802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41E6922-E429-31F5-A917-2F149B533446}"/>
              </a:ext>
            </a:extLst>
          </p:cNvPr>
          <p:cNvSpPr txBox="1"/>
          <p:nvPr/>
        </p:nvSpPr>
        <p:spPr>
          <a:xfrm>
            <a:off x="0" y="371147"/>
            <a:ext cx="900439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b="1" dirty="0"/>
              <a:t>Тема:</a:t>
            </a:r>
            <a:r>
              <a:rPr lang="ru-RU" sz="1400" dirty="0"/>
              <a:t> Вещь твоей мечты уже ждет тебя! 👕🔥 </a:t>
            </a:r>
            <a:r>
              <a:rPr lang="ru-RU" sz="1400" b="1" dirty="0"/>
              <a:t>Отправитель:</a:t>
            </a:r>
            <a:r>
              <a:rPr lang="ru-RU" sz="1400" dirty="0"/>
              <a:t> PRINT POETRY | Бренд авторской одежды</a:t>
            </a:r>
          </a:p>
          <a:p>
            <a:pPr>
              <a:buNone/>
            </a:pPr>
            <a:r>
              <a:rPr lang="ru-RU" sz="1400" dirty="0"/>
              <a:t>Привет!</a:t>
            </a:r>
          </a:p>
          <a:p>
            <a:pPr>
              <a:buNone/>
            </a:pPr>
            <a:r>
              <a:rPr lang="ru-RU" sz="1400" dirty="0"/>
              <a:t>Ты когда-нибудь представлял, как будет выглядеть твой идеальный оверсайз-худи или футболка с уникальной авторской графикой? Одежда — это не просто ткань, это манифест твоего стиля и геометрии.</a:t>
            </a:r>
          </a:p>
          <a:p>
            <a:pPr>
              <a:buNone/>
            </a:pPr>
            <a:r>
              <a:rPr lang="ru-RU" sz="1400" dirty="0"/>
              <a:t>Каждая вещь в нашей коллекции заслуживает того, чтобы стать основой твоего гардероба. Мы прорабатываем каждую деталь: от плотного премиального канваса до сложной неоновой типографики.</a:t>
            </a:r>
          </a:p>
          <a:p>
            <a:pPr>
              <a:buNone/>
            </a:pPr>
            <a:r>
              <a:rPr lang="ru-RU" sz="1400" dirty="0"/>
              <a:t>✨ </a:t>
            </a:r>
            <a:r>
              <a:rPr lang="ru-RU" sz="1400" b="1" dirty="0"/>
              <a:t>Сейчас у тебя есть отличный шанс получить культовый худи из новой коллекции всего за 5 000 руб. (вместо 7 000)!</a:t>
            </a:r>
            <a:endParaRPr lang="ru-RU" sz="1400" dirty="0"/>
          </a:p>
          <a:p>
            <a:pPr>
              <a:buNone/>
            </a:pPr>
            <a:r>
              <a:rPr lang="ru-RU" sz="1400" dirty="0"/>
              <a:t>Акция действует только до </a:t>
            </a:r>
            <a:r>
              <a:rPr lang="ru-RU" sz="1400" b="1" dirty="0"/>
              <a:t>15 июня</a:t>
            </a:r>
            <a:r>
              <a:rPr lang="ru-RU" sz="1400" dirty="0"/>
              <a:t> — успей заказать свою вещь на выгодных условиях!</a:t>
            </a:r>
          </a:p>
          <a:p>
            <a:pPr>
              <a:buNone/>
            </a:pPr>
            <a:r>
              <a:rPr lang="ru-RU" sz="1400" b="1" dirty="0"/>
              <a:t>Почему выбирают PRINT POETRY?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🎨 </a:t>
            </a:r>
            <a:r>
              <a:rPr lang="ru-RU" sz="1400" b="1" dirty="0"/>
              <a:t>Авторский стиль</a:t>
            </a:r>
            <a:r>
              <a:rPr lang="ru-RU" sz="1400" dirty="0"/>
              <a:t> — мы специализируемся на концептуальном </a:t>
            </a:r>
            <a:r>
              <a:rPr lang="ru-RU" sz="1400" dirty="0" err="1"/>
              <a:t>стритвире</a:t>
            </a:r>
            <a:r>
              <a:rPr lang="ru-RU" sz="1400" dirty="0"/>
              <a:t>, мрачной графике и сложной геометрии. Никаких банальных принтов — только уникальный дизайн, выделяющий тебя в толпе.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⚡ </a:t>
            </a:r>
            <a:r>
              <a:rPr lang="ru-RU" sz="1400" b="1" dirty="0"/>
              <a:t>Быстро</a:t>
            </a:r>
            <a:r>
              <a:rPr lang="ru-RU" sz="1400" dirty="0"/>
              <a:t> — мы отправляем заказ в течение 3 дней после оформления.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🛡️ </a:t>
            </a:r>
            <a:r>
              <a:rPr lang="ru-RU" sz="1400" b="1" dirty="0"/>
              <a:t>Безопасно</a:t>
            </a:r>
            <a:r>
              <a:rPr lang="ru-RU" sz="1400" dirty="0"/>
              <a:t> — комфортные условия покупки с возможностью безопасной оплаты на сайте и гарантией качества.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🎁 </a:t>
            </a:r>
            <a:r>
              <a:rPr lang="ru-RU" sz="1400" b="1" dirty="0"/>
              <a:t>Бонус:</a:t>
            </a:r>
            <a:r>
              <a:rPr lang="ru-RU" sz="1400" dirty="0"/>
              <a:t> При заказе сегодня ты получаешь бесплатный цифровой NFT-сертификат, подтверждающий подлинность и эксклюзивность твоей вещи из лимитированного дропа!</a:t>
            </a:r>
          </a:p>
          <a:p>
            <a:pPr>
              <a:buNone/>
            </a:pPr>
            <a:r>
              <a:rPr lang="ru-RU" sz="1400" dirty="0"/>
              <a:t>Количество вещей в этом дропе строго ограничено, чтобы сохранить уникальность каждого релиза.</a:t>
            </a:r>
          </a:p>
          <a:p>
            <a:pPr>
              <a:buNone/>
            </a:pPr>
            <a:r>
              <a:rPr lang="ru-RU" sz="1400" dirty="0"/>
              <a:t>👉 </a:t>
            </a:r>
            <a:r>
              <a:rPr lang="ru-RU" sz="1400" b="1" dirty="0"/>
              <a:t>[ Нажмите здесь, чтобы забронировать свой размер и выбрать вещь ]</a:t>
            </a:r>
            <a:endParaRPr lang="ru-RU" sz="1400" dirty="0"/>
          </a:p>
          <a:p>
            <a:pPr>
              <a:buNone/>
            </a:pPr>
            <a:r>
              <a:rPr lang="ru-RU" sz="1400" dirty="0"/>
              <a:t>С уважением, </a:t>
            </a:r>
            <a:r>
              <a:rPr lang="ru-RU" sz="1400" b="1" dirty="0"/>
              <a:t>Команда PRINT POETRY</a:t>
            </a:r>
            <a:r>
              <a:rPr lang="ru-RU" sz="1400" dirty="0"/>
              <a:t> </a:t>
            </a:r>
            <a:r>
              <a:rPr lang="ru-RU" sz="1400" i="1" dirty="0"/>
              <a:t>Одежда, создающая смыслы</a:t>
            </a:r>
            <a:endParaRPr lang="ru-RU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643FD-79D4-4BEB-07A7-79A5C32236EA}"/>
              </a:ext>
            </a:extLst>
          </p:cNvPr>
          <p:cNvSpPr txBox="1"/>
          <p:nvPr/>
        </p:nvSpPr>
        <p:spPr>
          <a:xfrm>
            <a:off x="-80272" y="0"/>
            <a:ext cx="4582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Продающее письмо</a:t>
            </a:r>
            <a:endParaRPr lang="ru-RU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615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2E45B9-05D1-5A60-D291-3830D0BBE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37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FB3AB8-33CD-2A16-2BC9-B283511E0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745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3214</Words>
  <Application>Microsoft Office PowerPoint</Application>
  <PresentationFormat>Экран (16:9)</PresentationFormat>
  <Paragraphs>359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Georgia</vt:lpstr>
      <vt:lpstr>Google Sans</vt:lpstr>
      <vt:lpstr>Google Sans Flex</vt:lpstr>
      <vt:lpstr>Google Sans Text</vt:lpstr>
      <vt:lpstr>Inter</vt:lpstr>
      <vt:lpstr>Inter SemiBold</vt:lpstr>
      <vt:lpstr>Montserrat</vt:lpstr>
      <vt:lpstr>quote-cjk-patch</vt:lpstr>
      <vt:lpstr>Raleway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Раздел 1.3 Анализ групп в социальных сетях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</dc:creator>
  <cp:lastModifiedBy>Максим Пиренко</cp:lastModifiedBy>
  <cp:revision>6</cp:revision>
  <dcterms:created xsi:type="dcterms:W3CDTF">2026-05-02T12:29:54Z</dcterms:created>
  <dcterms:modified xsi:type="dcterms:W3CDTF">2026-06-26T11:29:17Z</dcterms:modified>
</cp:coreProperties>
</file>